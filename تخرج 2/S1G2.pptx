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70" r:id="rId6"/>
    <p:sldId id="269" r:id="rId7"/>
    <p:sldId id="260" r:id="rId8"/>
    <p:sldId id="261" r:id="rId9"/>
    <p:sldId id="274" r:id="rId10"/>
    <p:sldId id="259" r:id="rId11"/>
    <p:sldId id="278" r:id="rId12"/>
    <p:sldId id="276" r:id="rId13"/>
    <p:sldId id="271" r:id="rId14"/>
    <p:sldId id="265" r:id="rId15"/>
    <p:sldId id="272" r:id="rId16"/>
    <p:sldId id="273" r:id="rId17"/>
    <p:sldId id="267" r:id="rId18"/>
    <p:sldId id="268" r:id="rId19"/>
  </p:sldIdLst>
  <p:sldSz cx="18288000" cy="10287000"/>
  <p:notesSz cx="6858000" cy="9144000"/>
  <p:embeddedFontLst>
    <p:embeddedFont>
      <p:font typeface="Calibri" panose="020F0502020204030204" pitchFamily="34" charset="0"/>
      <p:regular r:id="rId20"/>
      <p:bold r:id="rId21"/>
    </p:embeddedFont>
    <p:embeddedFont>
      <p:font typeface="Garet" panose="020B0604020202020204" charset="0"/>
      <p:regular r:id="rId22"/>
    </p:embeddedFont>
    <p:embeddedFont>
      <p:font typeface="Garet Bold" panose="020B0604020202020204" charset="0"/>
      <p:regular r:id="rId23"/>
    </p:embeddedFont>
    <p:embeddedFont>
      <p:font typeface="Open Sans" panose="020B0606030504020204" pitchFamily="34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60"/>
    <a:srgbClr val="F0E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3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3:01.203"/>
    </inkml:context>
    <inkml:brush xml:id="br0">
      <inkml:brushProperty name="width" value="0.35" units="cm"/>
      <inkml:brushProperty name="height" value="0.35" units="cm"/>
      <inkml:brushProperty name="color" value="#F0EEE6"/>
    </inkml:brush>
  </inkml:definitions>
  <inkml:trace contextRef="#ctx0" brushRef="#br0">4361 43 24575,'-2542'0'0,"2516"-2"0,1-1 0,-1 0 0,-27-9 0,24 5 0,-58-5 0,-390 9 0,245 5 0,-631-2 0,1573 0-1365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2:23:05.191"/>
    </inkml:context>
    <inkml:brush xml:id="br0">
      <inkml:brushProperty name="width" value="0.35" units="cm"/>
      <inkml:brushProperty name="height" value="0.35" units="cm"/>
      <inkml:brushProperty name="color" value="#F0EEE6"/>
    </inkml:brush>
  </inkml:definitions>
  <inkml:trace contextRef="#ctx0" brushRef="#br0">4725 43 24575,'-1671'0'0,"1637"-2"0,1-1 0,-50-12 0,43 7 0,-46-3 0,-315 8 0,206 5 0,-360-2 0,530 1 0,0 2 0,0 1 0,-29 8 0,26-6 0,-54 7 0,-53 7 0,90-12 0,-52 4 0,-328-9 0,215-6 0,-265 3-1365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11" Type="http://schemas.openxmlformats.org/officeDocument/2006/relationships/image" Target="../media/image17.png"/><Relationship Id="rId5" Type="http://schemas.openxmlformats.org/officeDocument/2006/relationships/image" Target="../media/image8.png"/><Relationship Id="rId10" Type="http://schemas.openxmlformats.org/officeDocument/2006/relationships/image" Target="../media/image16.svg"/><Relationship Id="rId4" Type="http://schemas.openxmlformats.org/officeDocument/2006/relationships/image" Target="../media/image12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29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31.png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21.png"/><Relationship Id="rId7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2.sv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-280805" y="2967568"/>
            <a:ext cx="1718426" cy="4351865"/>
            <a:chOff x="0" y="0"/>
            <a:chExt cx="452589" cy="1146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2589" cy="1146170"/>
            </a:xfrm>
            <a:custGeom>
              <a:avLst/>
              <a:gdLst/>
              <a:ahLst/>
              <a:cxnLst/>
              <a:rect l="l" t="t" r="r" b="b"/>
              <a:pathLst>
                <a:path w="452589" h="1146170">
                  <a:moveTo>
                    <a:pt x="112631" y="0"/>
                  </a:moveTo>
                  <a:lnTo>
                    <a:pt x="339958" y="0"/>
                  </a:lnTo>
                  <a:cubicBezTo>
                    <a:pt x="369830" y="0"/>
                    <a:pt x="398478" y="11866"/>
                    <a:pt x="419601" y="32989"/>
                  </a:cubicBezTo>
                  <a:cubicBezTo>
                    <a:pt x="440723" y="54111"/>
                    <a:pt x="452589" y="82759"/>
                    <a:pt x="452589" y="112631"/>
                  </a:cubicBezTo>
                  <a:lnTo>
                    <a:pt x="452589" y="1033539"/>
                  </a:lnTo>
                  <a:cubicBezTo>
                    <a:pt x="452589" y="1063411"/>
                    <a:pt x="440723" y="1092059"/>
                    <a:pt x="419601" y="1113181"/>
                  </a:cubicBezTo>
                  <a:cubicBezTo>
                    <a:pt x="398478" y="1134304"/>
                    <a:pt x="369830" y="1146170"/>
                    <a:pt x="339958" y="1146170"/>
                  </a:cubicBezTo>
                  <a:lnTo>
                    <a:pt x="112631" y="1146170"/>
                  </a:lnTo>
                  <a:cubicBezTo>
                    <a:pt x="82759" y="1146170"/>
                    <a:pt x="54111" y="1134304"/>
                    <a:pt x="32989" y="1113181"/>
                  </a:cubicBezTo>
                  <a:cubicBezTo>
                    <a:pt x="11866" y="1092059"/>
                    <a:pt x="0" y="1063411"/>
                    <a:pt x="0" y="1033539"/>
                  </a:cubicBezTo>
                  <a:lnTo>
                    <a:pt x="0" y="112631"/>
                  </a:lnTo>
                  <a:cubicBezTo>
                    <a:pt x="0" y="82759"/>
                    <a:pt x="11866" y="54111"/>
                    <a:pt x="32989" y="32989"/>
                  </a:cubicBezTo>
                  <a:cubicBezTo>
                    <a:pt x="54111" y="11866"/>
                    <a:pt x="82759" y="0"/>
                    <a:pt x="11263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52589" cy="1184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596188" y="-251375"/>
            <a:ext cx="8091523" cy="10923738"/>
            <a:chOff x="0" y="0"/>
            <a:chExt cx="2131101" cy="28770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31101" cy="2877034"/>
            </a:xfrm>
            <a:custGeom>
              <a:avLst/>
              <a:gdLst/>
              <a:ahLst/>
              <a:cxnLst/>
              <a:rect l="l" t="t" r="r" b="b"/>
              <a:pathLst>
                <a:path w="2131101" h="2877034">
                  <a:moveTo>
                    <a:pt x="0" y="0"/>
                  </a:moveTo>
                  <a:lnTo>
                    <a:pt x="2131101" y="0"/>
                  </a:lnTo>
                  <a:lnTo>
                    <a:pt x="2131101" y="2877034"/>
                  </a:lnTo>
                  <a:lnTo>
                    <a:pt x="0" y="2877034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0"/>
                  </a:srgbClr>
                </a:gs>
                <a:gs pos="50000">
                  <a:srgbClr val="003060">
                    <a:alpha val="10000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131101" cy="2915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864416" y="3397462"/>
            <a:ext cx="7772506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LANGUAGE LEARNING SYSTEM</a:t>
            </a:r>
          </a:p>
        </p:txBody>
      </p:sp>
      <p:sp>
        <p:nvSpPr>
          <p:cNvPr id="16" name="Freeform 16"/>
          <p:cNvSpPr/>
          <p:nvPr/>
        </p:nvSpPr>
        <p:spPr>
          <a:xfrm>
            <a:off x="8305800" y="-493047"/>
            <a:ext cx="10793539" cy="10780047"/>
          </a:xfrm>
          <a:custGeom>
            <a:avLst/>
            <a:gdLst/>
            <a:ahLst/>
            <a:cxnLst/>
            <a:rect l="l" t="t" r="r" b="b"/>
            <a:pathLst>
              <a:path w="10793539" h="10780047">
                <a:moveTo>
                  <a:pt x="0" y="0"/>
                </a:moveTo>
                <a:lnTo>
                  <a:pt x="10793539" y="0"/>
                </a:lnTo>
                <a:lnTo>
                  <a:pt x="10793539" y="10780046"/>
                </a:lnTo>
                <a:lnTo>
                  <a:pt x="0" y="10780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7" name="Freeform 17"/>
          <p:cNvSpPr/>
          <p:nvPr/>
        </p:nvSpPr>
        <p:spPr>
          <a:xfrm>
            <a:off x="9143693" y="1351938"/>
            <a:ext cx="7566448" cy="7556990"/>
          </a:xfrm>
          <a:custGeom>
            <a:avLst/>
            <a:gdLst/>
            <a:ahLst/>
            <a:cxnLst/>
            <a:rect l="l" t="t" r="r" b="b"/>
            <a:pathLst>
              <a:path w="7566448" h="7556990">
                <a:moveTo>
                  <a:pt x="0" y="0"/>
                </a:moveTo>
                <a:lnTo>
                  <a:pt x="7566447" y="0"/>
                </a:lnTo>
                <a:lnTo>
                  <a:pt x="7566447" y="7556990"/>
                </a:lnTo>
                <a:lnTo>
                  <a:pt x="0" y="75569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855460" y="242737"/>
            <a:ext cx="8432540" cy="843254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harpenSoften amount="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0" y="3710599"/>
            <a:ext cx="5094067" cy="509406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harpenSoften amount="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28600" y="239357"/>
            <a:ext cx="11308348" cy="1459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Syrian Private University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Department of Software Engineering and Intelligent Systems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2400" kern="1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27409" y="6752668"/>
            <a:ext cx="8940029" cy="28155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PREPARED BY: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AYAT MAHMOUD         NOOR SHEIKHA </a:t>
            </a:r>
          </a:p>
          <a:p>
            <a:pPr algn="ctr">
              <a:lnSpc>
                <a:spcPct val="200000"/>
              </a:lnSpc>
              <a:spcAft>
                <a:spcPts val="800"/>
              </a:spcAft>
            </a:pPr>
            <a:endParaRPr lang="en-US" sz="2000" kern="1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SUPERVISED BY: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2000" kern="1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DR. SHADI BLEIDI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BE727E-96B3-4DF6-9A34-D42D1DFC5F98}"/>
              </a:ext>
            </a:extLst>
          </p:cNvPr>
          <p:cNvSpPr txBox="1"/>
          <p:nvPr/>
        </p:nvSpPr>
        <p:spPr>
          <a:xfrm>
            <a:off x="16169501" y="9450366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kern="100" dirty="0">
                <a:solidFill>
                  <a:schemeClr val="bg1"/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497777" y="3353141"/>
            <a:ext cx="817854" cy="720378"/>
            <a:chOff x="0" y="0"/>
            <a:chExt cx="215402" cy="1897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497777" y="4184128"/>
            <a:ext cx="817854" cy="720378"/>
            <a:chOff x="0" y="0"/>
            <a:chExt cx="215402" cy="1897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497777" y="5018807"/>
            <a:ext cx="817854" cy="720378"/>
            <a:chOff x="0" y="0"/>
            <a:chExt cx="215402" cy="18972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497777" y="5853485"/>
            <a:ext cx="817854" cy="720378"/>
            <a:chOff x="0" y="0"/>
            <a:chExt cx="215402" cy="18972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497777" y="6688163"/>
            <a:ext cx="817854" cy="720378"/>
            <a:chOff x="0" y="0"/>
            <a:chExt cx="215402" cy="18972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497777" y="7522842"/>
            <a:ext cx="817854" cy="720378"/>
            <a:chOff x="0" y="0"/>
            <a:chExt cx="215402" cy="1897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06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97777" y="8357520"/>
            <a:ext cx="817854" cy="720378"/>
            <a:chOff x="0" y="0"/>
            <a:chExt cx="215402" cy="1897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07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0" y="8243220"/>
            <a:ext cx="3245780" cy="3245780"/>
          </a:xfrm>
          <a:custGeom>
            <a:avLst/>
            <a:gdLst/>
            <a:ahLst/>
            <a:cxnLst/>
            <a:rect l="l" t="t" r="r" b="b"/>
            <a:pathLst>
              <a:path w="3245780" h="3245780">
                <a:moveTo>
                  <a:pt x="0" y="0"/>
                </a:moveTo>
                <a:lnTo>
                  <a:pt x="3245780" y="0"/>
                </a:lnTo>
                <a:lnTo>
                  <a:pt x="3245780" y="3245780"/>
                </a:lnTo>
                <a:lnTo>
                  <a:pt x="0" y="3245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3457163" y="3315326"/>
            <a:ext cx="4203747" cy="5735273"/>
            <a:chOff x="0" y="0"/>
            <a:chExt cx="1112512" cy="151782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12512" cy="1517827"/>
            </a:xfrm>
            <a:custGeom>
              <a:avLst/>
              <a:gdLst/>
              <a:ahLst/>
              <a:cxnLst/>
              <a:rect l="l" t="t" r="r" b="b"/>
              <a:pathLst>
                <a:path w="1112512" h="1517827">
                  <a:moveTo>
                    <a:pt x="0" y="0"/>
                  </a:moveTo>
                  <a:lnTo>
                    <a:pt x="1112512" y="0"/>
                  </a:lnTo>
                  <a:lnTo>
                    <a:pt x="1112512" y="1517827"/>
                  </a:lnTo>
                  <a:lnTo>
                    <a:pt x="0" y="151782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1112512" cy="1574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245780" y="2735261"/>
            <a:ext cx="4203747" cy="6105247"/>
            <a:chOff x="0" y="0"/>
            <a:chExt cx="654419" cy="95043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4419" cy="950435"/>
            </a:xfrm>
            <a:custGeom>
              <a:avLst/>
              <a:gdLst/>
              <a:ahLst/>
              <a:cxnLst/>
              <a:rect l="l" t="t" r="r" b="b"/>
              <a:pathLst>
                <a:path w="654419" h="950435">
                  <a:moveTo>
                    <a:pt x="0" y="0"/>
                  </a:moveTo>
                  <a:lnTo>
                    <a:pt x="654419" y="0"/>
                  </a:lnTo>
                  <a:lnTo>
                    <a:pt x="654419" y="950435"/>
                  </a:lnTo>
                  <a:lnTo>
                    <a:pt x="0" y="950435"/>
                  </a:lnTo>
                  <a:close/>
                </a:path>
              </a:pathLst>
            </a:custGeom>
            <a:blipFill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alphaModFix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harpenSoften amount="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38100">
              <a:solidFill>
                <a:schemeClr val="bg1"/>
              </a:solidFill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963740" y="9258300"/>
            <a:ext cx="4465962" cy="1640349"/>
            <a:chOff x="0" y="0"/>
            <a:chExt cx="1176220" cy="43202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76220" cy="432026"/>
            </a:xfrm>
            <a:custGeom>
              <a:avLst/>
              <a:gdLst/>
              <a:ahLst/>
              <a:cxnLst/>
              <a:rect l="l" t="t" r="r" b="b"/>
              <a:pathLst>
                <a:path w="1176220" h="432026">
                  <a:moveTo>
                    <a:pt x="32937" y="0"/>
                  </a:moveTo>
                  <a:lnTo>
                    <a:pt x="1143283" y="0"/>
                  </a:lnTo>
                  <a:cubicBezTo>
                    <a:pt x="1152019" y="0"/>
                    <a:pt x="1160396" y="3470"/>
                    <a:pt x="1166573" y="9647"/>
                  </a:cubicBezTo>
                  <a:cubicBezTo>
                    <a:pt x="1172750" y="15824"/>
                    <a:pt x="1176220" y="24202"/>
                    <a:pt x="1176220" y="32937"/>
                  </a:cubicBezTo>
                  <a:lnTo>
                    <a:pt x="1176220" y="399089"/>
                  </a:lnTo>
                  <a:cubicBezTo>
                    <a:pt x="1176220" y="407824"/>
                    <a:pt x="1172750" y="416202"/>
                    <a:pt x="1166573" y="422379"/>
                  </a:cubicBezTo>
                  <a:cubicBezTo>
                    <a:pt x="1160396" y="428556"/>
                    <a:pt x="1152019" y="432026"/>
                    <a:pt x="1143283" y="432026"/>
                  </a:cubicBezTo>
                  <a:lnTo>
                    <a:pt x="32937" y="432026"/>
                  </a:lnTo>
                  <a:cubicBezTo>
                    <a:pt x="24202" y="432026"/>
                    <a:pt x="15824" y="428556"/>
                    <a:pt x="9647" y="422379"/>
                  </a:cubicBezTo>
                  <a:cubicBezTo>
                    <a:pt x="3470" y="416202"/>
                    <a:pt x="0" y="407824"/>
                    <a:pt x="0" y="399089"/>
                  </a:cubicBezTo>
                  <a:lnTo>
                    <a:pt x="0" y="32937"/>
                  </a:lnTo>
                  <a:cubicBezTo>
                    <a:pt x="0" y="24202"/>
                    <a:pt x="3470" y="15824"/>
                    <a:pt x="9647" y="9647"/>
                  </a:cubicBezTo>
                  <a:cubicBezTo>
                    <a:pt x="15824" y="3470"/>
                    <a:pt x="24202" y="0"/>
                    <a:pt x="3293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0"/>
                  </a:srgbClr>
                </a:gs>
                <a:gs pos="50000">
                  <a:srgbClr val="003060">
                    <a:alpha val="10000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176220" cy="489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497777" y="-611649"/>
            <a:ext cx="8931924" cy="1640349"/>
            <a:chOff x="0" y="0"/>
            <a:chExt cx="2352441" cy="43202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352441" cy="432026"/>
            </a:xfrm>
            <a:custGeom>
              <a:avLst/>
              <a:gdLst/>
              <a:ahLst/>
              <a:cxnLst/>
              <a:rect l="l" t="t" r="r" b="b"/>
              <a:pathLst>
                <a:path w="2352441" h="432026">
                  <a:moveTo>
                    <a:pt x="16469" y="0"/>
                  </a:moveTo>
                  <a:lnTo>
                    <a:pt x="2335972" y="0"/>
                  </a:lnTo>
                  <a:cubicBezTo>
                    <a:pt x="2345068" y="0"/>
                    <a:pt x="2352441" y="7373"/>
                    <a:pt x="2352441" y="16469"/>
                  </a:cubicBezTo>
                  <a:lnTo>
                    <a:pt x="2352441" y="415557"/>
                  </a:lnTo>
                  <a:cubicBezTo>
                    <a:pt x="2352441" y="419925"/>
                    <a:pt x="2350706" y="424114"/>
                    <a:pt x="2347617" y="427202"/>
                  </a:cubicBezTo>
                  <a:cubicBezTo>
                    <a:pt x="2344529" y="430291"/>
                    <a:pt x="2340340" y="432026"/>
                    <a:pt x="2335972" y="432026"/>
                  </a:cubicBezTo>
                  <a:lnTo>
                    <a:pt x="16469" y="432026"/>
                  </a:lnTo>
                  <a:cubicBezTo>
                    <a:pt x="12101" y="432026"/>
                    <a:pt x="7912" y="430291"/>
                    <a:pt x="4824" y="427202"/>
                  </a:cubicBezTo>
                  <a:cubicBezTo>
                    <a:pt x="1735" y="424114"/>
                    <a:pt x="0" y="419925"/>
                    <a:pt x="0" y="415557"/>
                  </a:cubicBezTo>
                  <a:lnTo>
                    <a:pt x="0" y="16469"/>
                  </a:lnTo>
                  <a:cubicBezTo>
                    <a:pt x="0" y="12101"/>
                    <a:pt x="1735" y="7912"/>
                    <a:pt x="4824" y="4824"/>
                  </a:cubicBezTo>
                  <a:cubicBezTo>
                    <a:pt x="7912" y="1735"/>
                    <a:pt x="12101" y="0"/>
                    <a:pt x="1646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0"/>
                  </a:srgbClr>
                </a:gs>
                <a:gs pos="50000">
                  <a:srgbClr val="003060">
                    <a:alpha val="10000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36" name="TextBox 36"/>
            <p:cNvSpPr txBox="1"/>
            <p:nvPr/>
          </p:nvSpPr>
          <p:spPr>
            <a:xfrm>
              <a:off x="0" y="-57150"/>
              <a:ext cx="2352441" cy="489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-224164" y="-611649"/>
            <a:ext cx="1637841" cy="3346909"/>
            <a:chOff x="0" y="0"/>
            <a:chExt cx="431365" cy="88149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31365" cy="881490"/>
            </a:xfrm>
            <a:custGeom>
              <a:avLst/>
              <a:gdLst/>
              <a:ahLst/>
              <a:cxnLst/>
              <a:rect l="l" t="t" r="r" b="b"/>
              <a:pathLst>
                <a:path w="431365" h="881490">
                  <a:moveTo>
                    <a:pt x="89811" y="0"/>
                  </a:moveTo>
                  <a:lnTo>
                    <a:pt x="341554" y="0"/>
                  </a:lnTo>
                  <a:cubicBezTo>
                    <a:pt x="365374" y="0"/>
                    <a:pt x="388218" y="9462"/>
                    <a:pt x="405060" y="26305"/>
                  </a:cubicBezTo>
                  <a:cubicBezTo>
                    <a:pt x="421903" y="43148"/>
                    <a:pt x="431365" y="65992"/>
                    <a:pt x="431365" y="89811"/>
                  </a:cubicBezTo>
                  <a:lnTo>
                    <a:pt x="431365" y="791679"/>
                  </a:lnTo>
                  <a:cubicBezTo>
                    <a:pt x="431365" y="815499"/>
                    <a:pt x="421903" y="838343"/>
                    <a:pt x="405060" y="855185"/>
                  </a:cubicBezTo>
                  <a:cubicBezTo>
                    <a:pt x="388218" y="872028"/>
                    <a:pt x="365374" y="881490"/>
                    <a:pt x="341554" y="881490"/>
                  </a:cubicBezTo>
                  <a:lnTo>
                    <a:pt x="89811" y="881490"/>
                  </a:lnTo>
                  <a:cubicBezTo>
                    <a:pt x="65992" y="881490"/>
                    <a:pt x="43148" y="872028"/>
                    <a:pt x="26305" y="855185"/>
                  </a:cubicBezTo>
                  <a:cubicBezTo>
                    <a:pt x="9462" y="838343"/>
                    <a:pt x="0" y="815499"/>
                    <a:pt x="0" y="791679"/>
                  </a:cubicBezTo>
                  <a:lnTo>
                    <a:pt x="0" y="89811"/>
                  </a:lnTo>
                  <a:cubicBezTo>
                    <a:pt x="0" y="65992"/>
                    <a:pt x="9462" y="43148"/>
                    <a:pt x="26305" y="26305"/>
                  </a:cubicBezTo>
                  <a:cubicBezTo>
                    <a:pt x="43148" y="9462"/>
                    <a:pt x="65992" y="0"/>
                    <a:pt x="898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431365" cy="9386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9497777" y="2176752"/>
            <a:ext cx="5845824" cy="86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700" b="1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CONTENT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491169" y="3468855"/>
            <a:ext cx="2929069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Introduction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491169" y="4299843"/>
            <a:ext cx="4852432" cy="881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Importance &amp; Objectives</a:t>
            </a:r>
          </a:p>
          <a:p>
            <a:pPr algn="l">
              <a:lnSpc>
                <a:spcPts val="3500"/>
              </a:lnSpc>
            </a:pPr>
            <a:endParaRPr lang="en-US" sz="25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0491169" y="5134521"/>
            <a:ext cx="2929069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Reference study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491169" y="5969199"/>
            <a:ext cx="6120431" cy="881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Actors &amp; Functional requirements</a:t>
            </a:r>
          </a:p>
          <a:p>
            <a:pPr algn="l">
              <a:lnSpc>
                <a:spcPts val="3500"/>
              </a:lnSpc>
            </a:pPr>
            <a:endParaRPr lang="en-US" sz="25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491169" y="6803878"/>
            <a:ext cx="4852432" cy="43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Methodology &amp; Gantt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91169" y="7638556"/>
            <a:ext cx="4551051" cy="43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Architecture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91169" y="8473234"/>
            <a:ext cx="4049497" cy="43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 case high level </a:t>
            </a:r>
          </a:p>
        </p:txBody>
      </p:sp>
      <p:sp>
        <p:nvSpPr>
          <p:cNvPr id="49" name="Freeform 49"/>
          <p:cNvSpPr/>
          <p:nvPr/>
        </p:nvSpPr>
        <p:spPr>
          <a:xfrm flipH="1">
            <a:off x="15569366" y="8100011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020695" y="2278108"/>
            <a:ext cx="5296549" cy="7226209"/>
            <a:chOff x="0" y="0"/>
            <a:chExt cx="1112512" cy="15178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12512" cy="1517827"/>
            </a:xfrm>
            <a:custGeom>
              <a:avLst/>
              <a:gdLst/>
              <a:ahLst/>
              <a:cxnLst/>
              <a:rect l="l" t="t" r="r" b="b"/>
              <a:pathLst>
                <a:path w="1112512" h="1517827">
                  <a:moveTo>
                    <a:pt x="0" y="0"/>
                  </a:moveTo>
                  <a:lnTo>
                    <a:pt x="1112512" y="0"/>
                  </a:lnTo>
                  <a:lnTo>
                    <a:pt x="1112512" y="1517827"/>
                  </a:lnTo>
                  <a:lnTo>
                    <a:pt x="0" y="151782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112512" cy="1574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754361" y="1547250"/>
            <a:ext cx="5296549" cy="7692362"/>
            <a:chOff x="0" y="0"/>
            <a:chExt cx="654419" cy="9504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4419" cy="950435"/>
            </a:xfrm>
            <a:custGeom>
              <a:avLst/>
              <a:gdLst/>
              <a:ahLst/>
              <a:cxnLst/>
              <a:rect l="l" t="t" r="r" b="b"/>
              <a:pathLst>
                <a:path w="654419" h="950435">
                  <a:moveTo>
                    <a:pt x="0" y="0"/>
                  </a:moveTo>
                  <a:lnTo>
                    <a:pt x="654419" y="0"/>
                  </a:lnTo>
                  <a:lnTo>
                    <a:pt x="654419" y="950435"/>
                  </a:lnTo>
                  <a:lnTo>
                    <a:pt x="0" y="950435"/>
                  </a:lnTo>
                  <a:close/>
                </a:path>
              </a:pathLst>
            </a:custGeom>
            <a:blipFill>
              <a:blip r:embed="rId3"/>
              <a:stretch>
                <a:fillRect t="-1673" b="-1673"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618801" y="-297241"/>
            <a:ext cx="1647501" cy="10968002"/>
            <a:chOff x="0" y="0"/>
            <a:chExt cx="433910" cy="28886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3910" cy="2888692"/>
            </a:xfrm>
            <a:custGeom>
              <a:avLst/>
              <a:gdLst/>
              <a:ahLst/>
              <a:cxnLst/>
              <a:rect l="l" t="t" r="r" b="b"/>
              <a:pathLst>
                <a:path w="433910" h="2888692">
                  <a:moveTo>
                    <a:pt x="0" y="0"/>
                  </a:moveTo>
                  <a:lnTo>
                    <a:pt x="433910" y="0"/>
                  </a:lnTo>
                  <a:lnTo>
                    <a:pt x="433910" y="2888692"/>
                  </a:lnTo>
                  <a:lnTo>
                    <a:pt x="0" y="2888692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433910" cy="2945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6291881"/>
            <a:ext cx="1647501" cy="4537830"/>
            <a:chOff x="0" y="0"/>
            <a:chExt cx="433910" cy="11951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3910" cy="1195149"/>
            </a:xfrm>
            <a:custGeom>
              <a:avLst/>
              <a:gdLst/>
              <a:ahLst/>
              <a:cxnLst/>
              <a:rect l="l" t="t" r="r" b="b"/>
              <a:pathLst>
                <a:path w="433910" h="1195149">
                  <a:moveTo>
                    <a:pt x="93984" y="0"/>
                  </a:moveTo>
                  <a:lnTo>
                    <a:pt x="339926" y="0"/>
                  </a:lnTo>
                  <a:cubicBezTo>
                    <a:pt x="391832" y="0"/>
                    <a:pt x="433910" y="42078"/>
                    <a:pt x="433910" y="93984"/>
                  </a:cubicBezTo>
                  <a:lnTo>
                    <a:pt x="433910" y="1101165"/>
                  </a:lnTo>
                  <a:cubicBezTo>
                    <a:pt x="433910" y="1153071"/>
                    <a:pt x="391832" y="1195149"/>
                    <a:pt x="339926" y="1195149"/>
                  </a:cubicBezTo>
                  <a:lnTo>
                    <a:pt x="93984" y="1195149"/>
                  </a:lnTo>
                  <a:cubicBezTo>
                    <a:pt x="42078" y="1195149"/>
                    <a:pt x="0" y="1153071"/>
                    <a:pt x="0" y="1101165"/>
                  </a:cubicBezTo>
                  <a:lnTo>
                    <a:pt x="0" y="93984"/>
                  </a:lnTo>
                  <a:cubicBezTo>
                    <a:pt x="0" y="42078"/>
                    <a:pt x="42078" y="0"/>
                    <a:pt x="9398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433910" cy="125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19200" y="664316"/>
            <a:ext cx="5771519" cy="8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7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Introduction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2084" y="1552012"/>
            <a:ext cx="7258893" cy="6034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project aims to develop an interactive language-learning platform using digital games and educational activities to enhance learner motivation and improve the learning experience.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platform provides placement tests, educational games, interactive stories, listening and challenges, as well as learner progress tracking and content management.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system uses Laravel and the MVC architecture, following the Scrum methodology for iterative development and continuous improvement.</a:t>
            </a:r>
          </a:p>
        </p:txBody>
      </p:sp>
      <p:sp>
        <p:nvSpPr>
          <p:cNvPr id="23" name="Freeform 23"/>
          <p:cNvSpPr/>
          <p:nvPr/>
        </p:nvSpPr>
        <p:spPr>
          <a:xfrm flipH="1">
            <a:off x="2650567" y="9086324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929668" y="5366077"/>
            <a:ext cx="994865" cy="956879"/>
          </a:xfrm>
          <a:custGeom>
            <a:avLst/>
            <a:gdLst/>
            <a:ahLst/>
            <a:cxnLst/>
            <a:rect l="l" t="t" r="r" b="b"/>
            <a:pathLst>
              <a:path w="994865" h="956879">
                <a:moveTo>
                  <a:pt x="0" y="0"/>
                </a:moveTo>
                <a:lnTo>
                  <a:pt x="994865" y="0"/>
                </a:lnTo>
                <a:lnTo>
                  <a:pt x="994865" y="956879"/>
                </a:lnTo>
                <a:lnTo>
                  <a:pt x="0" y="9568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2400" dirty="0"/>
          </a:p>
        </p:txBody>
      </p:sp>
      <p:grpSp>
        <p:nvGrpSpPr>
          <p:cNvPr id="8" name="Group 8"/>
          <p:cNvGrpSpPr/>
          <p:nvPr/>
        </p:nvGrpSpPr>
        <p:grpSpPr>
          <a:xfrm>
            <a:off x="-107178" y="9039041"/>
            <a:ext cx="8162329" cy="1592157"/>
            <a:chOff x="0" y="0"/>
            <a:chExt cx="2149749" cy="4193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49749" cy="419334"/>
            </a:xfrm>
            <a:custGeom>
              <a:avLst/>
              <a:gdLst/>
              <a:ahLst/>
              <a:cxnLst/>
              <a:rect l="l" t="t" r="r" b="b"/>
              <a:pathLst>
                <a:path w="2149749" h="419334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23912" y="-250852"/>
            <a:ext cx="8741633" cy="1132122"/>
            <a:chOff x="0" y="0"/>
            <a:chExt cx="2302323" cy="2981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02323" cy="298172"/>
            </a:xfrm>
            <a:custGeom>
              <a:avLst/>
              <a:gdLst/>
              <a:ahLst/>
              <a:cxnLst/>
              <a:rect l="l" t="t" r="r" b="b"/>
              <a:pathLst>
                <a:path w="2302323" h="298172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flipH="1">
            <a:off x="14242600" y="9039041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864416" y="7571678"/>
            <a:ext cx="2675777" cy="679211"/>
          </a:xfrm>
          <a:custGeom>
            <a:avLst/>
            <a:gdLst/>
            <a:ahLst/>
            <a:cxnLst/>
            <a:rect l="l" t="t" r="r" b="b"/>
            <a:pathLst>
              <a:path w="2675777" h="679211">
                <a:moveTo>
                  <a:pt x="0" y="0"/>
                </a:moveTo>
                <a:lnTo>
                  <a:pt x="2675777" y="0"/>
                </a:lnTo>
                <a:lnTo>
                  <a:pt x="2675777" y="679211"/>
                </a:lnTo>
                <a:lnTo>
                  <a:pt x="0" y="6792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864416" y="3875134"/>
            <a:ext cx="5845824" cy="8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7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Importance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36846" y="1958718"/>
            <a:ext cx="565095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Enhancing Learning Motivation:</a:t>
            </a:r>
            <a:endParaRPr lang="ar-EG" sz="24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Using digital games to make language learning more enjoyable and engaging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36846" y="3596265"/>
            <a:ext cx="603195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Personalizing the Learning Experience: 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Helping learners identify their levels and choose activities suited to their abilities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036844" y="5281554"/>
            <a:ext cx="7251155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Tracking Progress and Improving Performance: 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Enabling learners to monitor their results and language skill development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36845" y="6966843"/>
            <a:ext cx="7251153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Providing an Interactive Learning Environment: 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Using games, interactive stories, and listening challenges to develop language skills practically</a:t>
            </a:r>
          </a:p>
        </p:txBody>
      </p:sp>
      <p:pic>
        <p:nvPicPr>
          <p:cNvPr id="24" name="Graphic 23" descr="Books with solid fill">
            <a:extLst>
              <a:ext uri="{FF2B5EF4-FFF2-40B4-BE49-F238E27FC236}">
                <a16:creationId xmlns:a16="http://schemas.microsoft.com/office/drawing/2014/main" id="{8BD917C6-ABAE-4EEF-875B-2EACEA2E71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23912" y="3526603"/>
            <a:ext cx="994865" cy="1122692"/>
          </a:xfrm>
          <a:prstGeom prst="rect">
            <a:avLst/>
          </a:prstGeom>
        </p:spPr>
      </p:pic>
      <p:pic>
        <p:nvPicPr>
          <p:cNvPr id="26" name="Graphic 25" descr="Clapping hands with solid fill">
            <a:extLst>
              <a:ext uri="{FF2B5EF4-FFF2-40B4-BE49-F238E27FC236}">
                <a16:creationId xmlns:a16="http://schemas.microsoft.com/office/drawing/2014/main" id="{1C008AF5-245A-4EB6-A7C3-288B9FC0C7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65921" y="1835953"/>
            <a:ext cx="994865" cy="1122692"/>
          </a:xfrm>
          <a:prstGeom prst="rect">
            <a:avLst/>
          </a:prstGeom>
        </p:spPr>
      </p:pic>
      <p:pic>
        <p:nvPicPr>
          <p:cNvPr id="28" name="Graphic 27" descr="Podium with solid fill">
            <a:extLst>
              <a:ext uri="{FF2B5EF4-FFF2-40B4-BE49-F238E27FC236}">
                <a16:creationId xmlns:a16="http://schemas.microsoft.com/office/drawing/2014/main" id="{35BA4EC7-47E7-45E2-8A37-CB2E9A8EC1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71677" y="6989707"/>
            <a:ext cx="994865" cy="956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4681" y="-170383"/>
            <a:ext cx="1433381" cy="10820284"/>
            <a:chOff x="0" y="0"/>
            <a:chExt cx="377516" cy="28497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7516" cy="2849787"/>
            </a:xfrm>
            <a:custGeom>
              <a:avLst/>
              <a:gdLst/>
              <a:ahLst/>
              <a:cxnLst/>
              <a:rect l="l" t="t" r="r" b="b"/>
              <a:pathLst>
                <a:path w="377516" h="2849787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2763368"/>
                  </a:lnTo>
                  <a:cubicBezTo>
                    <a:pt x="377516" y="2811096"/>
                    <a:pt x="338825" y="2849787"/>
                    <a:pt x="291097" y="2849787"/>
                  </a:cubicBezTo>
                  <a:lnTo>
                    <a:pt x="86419" y="2849787"/>
                  </a:lnTo>
                  <a:cubicBezTo>
                    <a:pt x="38691" y="2849787"/>
                    <a:pt x="0" y="2811096"/>
                    <a:pt x="0" y="2763368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377516" cy="2906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259300" y="-1312975"/>
            <a:ext cx="1433381" cy="4683349"/>
            <a:chOff x="0" y="0"/>
            <a:chExt cx="377516" cy="12334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7516" cy="1233475"/>
            </a:xfrm>
            <a:custGeom>
              <a:avLst/>
              <a:gdLst/>
              <a:ahLst/>
              <a:cxnLst/>
              <a:rect l="l" t="t" r="r" b="b"/>
              <a:pathLst>
                <a:path w="377516" h="1233475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1147056"/>
                  </a:lnTo>
                  <a:cubicBezTo>
                    <a:pt x="377516" y="1194784"/>
                    <a:pt x="338825" y="1233475"/>
                    <a:pt x="291097" y="1233475"/>
                  </a:cubicBezTo>
                  <a:lnTo>
                    <a:pt x="86419" y="1233475"/>
                  </a:lnTo>
                  <a:cubicBezTo>
                    <a:pt x="38691" y="1233475"/>
                    <a:pt x="0" y="1194784"/>
                    <a:pt x="0" y="1147056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77516" cy="1290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624746" y="2392798"/>
            <a:ext cx="7038508" cy="86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700" b="1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OBJECTIVES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380059" y="4232520"/>
            <a:ext cx="2352964" cy="30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1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OBJECTIVE 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49854" y="4232520"/>
            <a:ext cx="2352964" cy="30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1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OBJECTIVE 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80059" y="6392043"/>
            <a:ext cx="2352964" cy="30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1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OBJECTIVE 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49854" y="6392043"/>
            <a:ext cx="2352964" cy="30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400" b="1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OBJECTIVE 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80059" y="4559434"/>
            <a:ext cx="5185866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Developing Language Skills Helping learners improve their language skills through games and interactive activities.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49854" y="4559434"/>
            <a:ext cx="5157211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Tracking Learner Progress Recording results and monitoring performance to evaluate learning progress</a:t>
            </a:r>
            <a:endParaRPr lang="en-US" sz="24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380059" y="6718957"/>
            <a:ext cx="5185866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Assessing Learner Levels Providing placement tests to guide learners toward activities suited to their abilities.</a:t>
            </a:r>
            <a:endParaRPr lang="en-US" sz="24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449854" y="6718957"/>
            <a:ext cx="5157211" cy="1436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400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</a:t>
            </a: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anaging Educational Content Providing administrators with tools to manage and update games, courses, and educational content.</a:t>
            </a:r>
            <a:endParaRPr lang="en-US" sz="24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0" name="Freeform 20"/>
          <p:cNvSpPr/>
          <p:nvPr/>
        </p:nvSpPr>
        <p:spPr>
          <a:xfrm flipH="1">
            <a:off x="14218007" y="9045591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045542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10394" y="319615"/>
            <a:ext cx="9513518" cy="882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7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Reference study 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115591E-6A84-42B6-A330-127C63896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1112"/>
              </p:ext>
            </p:extLst>
          </p:nvPr>
        </p:nvGraphicFramePr>
        <p:xfrm>
          <a:off x="1001141" y="1419797"/>
          <a:ext cx="16607462" cy="8047142"/>
        </p:xfrm>
        <a:graphic>
          <a:graphicData uri="http://schemas.openxmlformats.org/drawingml/2006/table">
            <a:tbl>
              <a:tblPr firstRow="1" firstCol="1" bandRow="1">
                <a:tableStyleId>{125E5076-3810-47DD-B79F-674D7AD40C01}</a:tableStyleId>
              </a:tblPr>
              <a:tblGrid>
                <a:gridCol w="2656459">
                  <a:extLst>
                    <a:ext uri="{9D8B030D-6E8A-4147-A177-3AD203B41FA5}">
                      <a16:colId xmlns:a16="http://schemas.microsoft.com/office/drawing/2014/main" val="1526878159"/>
                    </a:ext>
                  </a:extLst>
                </a:gridCol>
                <a:gridCol w="8415182">
                  <a:extLst>
                    <a:ext uri="{9D8B030D-6E8A-4147-A177-3AD203B41FA5}">
                      <a16:colId xmlns:a16="http://schemas.microsoft.com/office/drawing/2014/main" val="2391938080"/>
                    </a:ext>
                  </a:extLst>
                </a:gridCol>
                <a:gridCol w="5535821">
                  <a:extLst>
                    <a:ext uri="{9D8B030D-6E8A-4147-A177-3AD203B41FA5}">
                      <a16:colId xmlns:a16="http://schemas.microsoft.com/office/drawing/2014/main" val="1264319596"/>
                    </a:ext>
                  </a:extLst>
                </a:gridCol>
              </a:tblGrid>
              <a:tr h="9189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Platform / System</a:t>
                      </a:r>
                      <a:endParaRPr lang="en-US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Strengths</a:t>
                      </a:r>
                      <a:endParaRPr lang="en-US" sz="28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Weaknesses</a:t>
                      </a:r>
                      <a:endParaRPr lang="en-US" sz="28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5867655"/>
                  </a:ext>
                </a:extLst>
              </a:tr>
              <a:tr h="11880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Duolingo</a:t>
                      </a:r>
                      <a:endParaRPr lang="en-US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Gamified learning, AI personalization, rewards, and multi-platform support.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Limited voice interaction, shallow grammar coverage, and potential translation inaccuracies.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1409394"/>
                  </a:ext>
                </a:extLst>
              </a:tr>
              <a:tr h="11880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Memrise</a:t>
                      </a:r>
                      <a:endParaRPr lang="en-US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Authentic pronunciation videos, smart repetition, and daily challenges.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Limited grammar coverage, weak advanced content, and minimal voice interaction.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6504508"/>
                  </a:ext>
                </a:extLst>
              </a:tr>
              <a:tr h="11880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</a:rPr>
                        <a:t>freeCodeCamp</a:t>
                      </a:r>
                      <a:endParaRPr lang="en-US" sz="28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Free access, practical projects, structured learning paths, and a supportive community.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Focuses on programming rather than languages and may require external resources.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43637013"/>
                  </a:ext>
                </a:extLst>
              </a:tr>
              <a:tr h="7861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edX</a:t>
                      </a:r>
                      <a:endParaRPr lang="en-US" sz="28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High-quality academic content, accredited certificates, and diverse subjects.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Paid courses, limited interaction, and limited personalization.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3060375"/>
                  </a:ext>
                </a:extLst>
              </a:tr>
              <a:tr h="11880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 err="1">
                          <a:effectLst/>
                        </a:rPr>
                        <a:t>Busuu</a:t>
                      </a:r>
                      <a:endParaRPr lang="en-US" sz="28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Personalized learning plans, strong grammar coverage, and native-speaker feedback.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Limited free content, paid features, and interaction dependent on user availability.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7966811"/>
                  </a:ext>
                </a:extLst>
              </a:tr>
              <a:tr h="15899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</a:rPr>
                        <a:t>Proposed Project</a:t>
                      </a:r>
                      <a:endParaRPr lang="en-US" sz="28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Interactive language games, placement tests, progress tracking, interactive stories, listening challenges, and content management.</a:t>
                      </a:r>
                      <a:endParaRPr lang="en-US" sz="24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Requires development and testing to ensure content accuracy, usability, and learning effectiveness.</a:t>
                      </a:r>
                      <a:endParaRPr lang="en-US" sz="24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5655619"/>
                  </a:ext>
                </a:extLst>
              </a:tr>
            </a:tbl>
          </a:graphicData>
        </a:graphic>
      </p:graphicFrame>
      <p:grpSp>
        <p:nvGrpSpPr>
          <p:cNvPr id="28" name="Group 8">
            <a:extLst>
              <a:ext uri="{FF2B5EF4-FFF2-40B4-BE49-F238E27FC236}">
                <a16:creationId xmlns:a16="http://schemas.microsoft.com/office/drawing/2014/main" id="{FEDDD5D2-4D49-482D-8766-B6F475FC9F0B}"/>
              </a:ext>
            </a:extLst>
          </p:cNvPr>
          <p:cNvGrpSpPr/>
          <p:nvPr/>
        </p:nvGrpSpPr>
        <p:grpSpPr>
          <a:xfrm>
            <a:off x="14287" y="8670860"/>
            <a:ext cx="8162329" cy="1592157"/>
            <a:chOff x="0" y="0"/>
            <a:chExt cx="2149749" cy="419334"/>
          </a:xfrm>
        </p:grpSpPr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173D0871-F035-41CE-B880-C300891246AD}"/>
                </a:ext>
              </a:extLst>
            </p:cNvPr>
            <p:cNvSpPr/>
            <p:nvPr/>
          </p:nvSpPr>
          <p:spPr>
            <a:xfrm>
              <a:off x="0" y="0"/>
              <a:ext cx="2149749" cy="419334"/>
            </a:xfrm>
            <a:custGeom>
              <a:avLst/>
              <a:gdLst/>
              <a:ahLst/>
              <a:cxnLst/>
              <a:rect l="l" t="t" r="r" b="b"/>
              <a:pathLst>
                <a:path w="2149749" h="419334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30" name="TextBox 10">
              <a:extLst>
                <a:ext uri="{FF2B5EF4-FFF2-40B4-BE49-F238E27FC236}">
                  <a16:creationId xmlns:a16="http://schemas.microsoft.com/office/drawing/2014/main" id="{D0240D40-FB8A-4AAE-9C16-08132C17F817}"/>
                </a:ext>
              </a:extLst>
            </p:cNvPr>
            <p:cNvSpPr txBox="1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31" name="Group 11">
            <a:extLst>
              <a:ext uri="{FF2B5EF4-FFF2-40B4-BE49-F238E27FC236}">
                <a16:creationId xmlns:a16="http://schemas.microsoft.com/office/drawing/2014/main" id="{81CBCEBC-DBFB-48AF-9BF1-0C42678B7602}"/>
              </a:ext>
            </a:extLst>
          </p:cNvPr>
          <p:cNvGrpSpPr/>
          <p:nvPr/>
        </p:nvGrpSpPr>
        <p:grpSpPr>
          <a:xfrm>
            <a:off x="9546367" y="33675"/>
            <a:ext cx="8741633" cy="1132122"/>
            <a:chOff x="0" y="0"/>
            <a:chExt cx="2302323" cy="298172"/>
          </a:xfrm>
        </p:grpSpPr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DE5C8AD8-7173-488A-A7E6-588FADBC607C}"/>
                </a:ext>
              </a:extLst>
            </p:cNvPr>
            <p:cNvSpPr/>
            <p:nvPr/>
          </p:nvSpPr>
          <p:spPr>
            <a:xfrm>
              <a:off x="0" y="0"/>
              <a:ext cx="2302323" cy="298172"/>
            </a:xfrm>
            <a:custGeom>
              <a:avLst/>
              <a:gdLst/>
              <a:ahLst/>
              <a:cxnLst/>
              <a:rect l="l" t="t" r="r" b="b"/>
              <a:pathLst>
                <a:path w="2302323" h="298172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3" name="TextBox 13">
              <a:extLst>
                <a:ext uri="{FF2B5EF4-FFF2-40B4-BE49-F238E27FC236}">
                  <a16:creationId xmlns:a16="http://schemas.microsoft.com/office/drawing/2014/main" id="{0C48869D-390A-4740-9961-C0E3A87E7D27}"/>
                </a:ext>
              </a:extLst>
            </p:cNvPr>
            <p:cNvSpPr txBox="1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1698666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14350" y="4200"/>
            <a:ext cx="19118434" cy="3988725"/>
            <a:chOff x="0" y="0"/>
            <a:chExt cx="5035308" cy="10505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35308" cy="1050528"/>
            </a:xfrm>
            <a:custGeom>
              <a:avLst/>
              <a:gdLst/>
              <a:ahLst/>
              <a:cxnLst/>
              <a:rect l="l" t="t" r="r" b="b"/>
              <a:pathLst>
                <a:path w="5035308" h="1050528">
                  <a:moveTo>
                    <a:pt x="0" y="0"/>
                  </a:moveTo>
                  <a:lnTo>
                    <a:pt x="5035308" y="0"/>
                  </a:lnTo>
                  <a:lnTo>
                    <a:pt x="5035308" y="1050528"/>
                  </a:lnTo>
                  <a:lnTo>
                    <a:pt x="0" y="1050528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035308" cy="1107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272571" y="4205716"/>
            <a:ext cx="4782314" cy="2719084"/>
            <a:chOff x="0" y="0"/>
            <a:chExt cx="1259540" cy="7161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9539" cy="716137"/>
            </a:xfrm>
            <a:custGeom>
              <a:avLst/>
              <a:gdLst/>
              <a:ahLst/>
              <a:cxnLst/>
              <a:rect l="l" t="t" r="r" b="b"/>
              <a:pathLst>
                <a:path w="1259539" h="716137">
                  <a:moveTo>
                    <a:pt x="0" y="0"/>
                  </a:moveTo>
                  <a:lnTo>
                    <a:pt x="1259539" y="0"/>
                  </a:lnTo>
                  <a:lnTo>
                    <a:pt x="1259539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259540" cy="77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048000" y="4205716"/>
            <a:ext cx="4782314" cy="2719084"/>
            <a:chOff x="0" y="0"/>
            <a:chExt cx="1259540" cy="7161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59539" cy="716137"/>
            </a:xfrm>
            <a:custGeom>
              <a:avLst/>
              <a:gdLst/>
              <a:ahLst/>
              <a:cxnLst/>
              <a:rect l="l" t="t" r="r" b="b"/>
              <a:pathLst>
                <a:path w="1259539" h="716137">
                  <a:moveTo>
                    <a:pt x="0" y="0"/>
                  </a:moveTo>
                  <a:lnTo>
                    <a:pt x="1259539" y="0"/>
                  </a:lnTo>
                  <a:lnTo>
                    <a:pt x="1259539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259540" cy="77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flipH="1">
            <a:off x="15126022" y="1298027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3" y="0"/>
                </a:moveTo>
                <a:lnTo>
                  <a:pt x="0" y="0"/>
                </a:lnTo>
                <a:lnTo>
                  <a:pt x="0" y="805023"/>
                </a:lnTo>
                <a:lnTo>
                  <a:pt x="1689933" y="805023"/>
                </a:lnTo>
                <a:lnTo>
                  <a:pt x="168993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4449901" y="2597258"/>
            <a:ext cx="9388198" cy="8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7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Actors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931610" y="7203245"/>
            <a:ext cx="5015089" cy="213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Learner:</a:t>
            </a:r>
            <a:b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Creates an account and logs in, selects a language to learn, takes placement tests, practices educational games, tracks results and progress, enrolls in courses, and reviews learned vocabulary.</a:t>
            </a:r>
            <a:endParaRPr lang="en-US" sz="20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258283" y="7225615"/>
            <a:ext cx="5015089" cy="2130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Administrator:</a:t>
            </a:r>
            <a:b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Manages learner accounts and adds, edits, and deletes games, courses, languages, levels, and questions. Monitors learner performance and sends announcements and notifications.</a:t>
            </a:r>
            <a:endParaRPr lang="en-US" sz="20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pic>
        <p:nvPicPr>
          <p:cNvPr id="7" name="Graphic 6" descr="Briefcase with solid fill">
            <a:extLst>
              <a:ext uri="{FF2B5EF4-FFF2-40B4-BE49-F238E27FC236}">
                <a16:creationId xmlns:a16="http://schemas.microsoft.com/office/drawing/2014/main" id="{0AA8B4BD-D23D-41A4-9C37-D47928CD7A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68200" y="4536189"/>
            <a:ext cx="2857822" cy="2123792"/>
          </a:xfrm>
          <a:prstGeom prst="rect">
            <a:avLst/>
          </a:prstGeom>
        </p:spPr>
      </p:pic>
      <p:pic>
        <p:nvPicPr>
          <p:cNvPr id="9" name="Graphic 8" descr="Male profile with solid fill">
            <a:extLst>
              <a:ext uri="{FF2B5EF4-FFF2-40B4-BE49-F238E27FC236}">
                <a16:creationId xmlns:a16="http://schemas.microsoft.com/office/drawing/2014/main" id="{6A357907-378D-4676-AAEE-8A4A417247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10354" y="4398971"/>
            <a:ext cx="3657600" cy="22784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060">
                <a:alpha val="100000"/>
              </a:srgbClr>
            </a:gs>
            <a:gs pos="100000">
              <a:srgbClr val="003060">
                <a:alpha val="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4191000" y="3390900"/>
            <a:ext cx="10736773" cy="2666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8"/>
              </a:lnSpc>
            </a:pPr>
            <a:r>
              <a:rPr lang="en-US" sz="104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FUNCTIONAL REQUIREMENT 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15126022" y="8453277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3" y="0"/>
                </a:moveTo>
                <a:lnTo>
                  <a:pt x="0" y="0"/>
                </a:lnTo>
                <a:lnTo>
                  <a:pt x="0" y="805023"/>
                </a:lnTo>
                <a:lnTo>
                  <a:pt x="1689933" y="805023"/>
                </a:lnTo>
                <a:lnTo>
                  <a:pt x="16899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99C4A93-50AB-4B27-8F84-F9164F361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707412"/>
              </p:ext>
            </p:extLst>
          </p:nvPr>
        </p:nvGraphicFramePr>
        <p:xfrm>
          <a:off x="76200" y="114300"/>
          <a:ext cx="18135600" cy="10079744"/>
        </p:xfrm>
        <a:graphic>
          <a:graphicData uri="http://schemas.openxmlformats.org/drawingml/2006/table">
            <a:tbl>
              <a:tblPr rtl="1" firstRow="1" bandRow="1">
                <a:tableStyleId>{B301B821-A1FF-4177-AEE7-76D212191A09}</a:tableStyleId>
              </a:tblPr>
              <a:tblGrid>
                <a:gridCol w="558455">
                  <a:extLst>
                    <a:ext uri="{9D8B030D-6E8A-4147-A177-3AD203B41FA5}">
                      <a16:colId xmlns:a16="http://schemas.microsoft.com/office/drawing/2014/main" val="1328185937"/>
                    </a:ext>
                  </a:extLst>
                </a:gridCol>
                <a:gridCol w="8356945">
                  <a:extLst>
                    <a:ext uri="{9D8B030D-6E8A-4147-A177-3AD203B41FA5}">
                      <a16:colId xmlns:a16="http://schemas.microsoft.com/office/drawing/2014/main" val="2057026828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849514103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57419072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1302847853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672172255"/>
                    </a:ext>
                  </a:extLst>
                </a:gridCol>
              </a:tblGrid>
              <a:tr h="183661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 err="1">
                          <a:effectLst/>
                        </a:rPr>
                        <a:t>MoSCoW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Scenario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actor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Requirement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RQ_ID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/>
                </a:tc>
                <a:extLst>
                  <a:ext uri="{0D108BD9-81ED-4DB2-BD59-A6C34878D82A}">
                    <a16:rowId xmlns:a16="http://schemas.microsoft.com/office/drawing/2014/main" val="1710555994"/>
                  </a:ext>
                </a:extLst>
              </a:tr>
              <a:tr h="466079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Must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The system should allow the learner to sign up using their details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creates a new account by entering their personal information such as email and username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Sign up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RQ_1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424757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log 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enters their credentials (email/username and password) to access the system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Log 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RQ_2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444987"/>
                  </a:ext>
                </a:extLst>
              </a:tr>
              <a:tr h="466079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The system should allow learners to manage their accounts, including updating personal </a:t>
                      </a:r>
                      <a:r>
                        <a:rPr lang="en-US" sz="1100" dirty="0" err="1">
                          <a:effectLst/>
                        </a:rPr>
                        <a:t>information,and</a:t>
                      </a:r>
                      <a:r>
                        <a:rPr lang="en-US" sz="1100" dirty="0">
                          <a:effectLst/>
                        </a:rPr>
                        <a:t> adjusting preferences for security.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Learners can update personal details, and adjust preferences to maintain secure and flexible accounts.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Managing Accounts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RQ_3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207916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log out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securely exit their account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Logout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RQ_4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552274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The system should show available languages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view a list of supported languages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Show available languages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RQ_5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1790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show available games by language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browse games categorized by language (English, Arabic, Turkish)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Show available games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RQ_6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797837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determine the learner’s level in the language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completes a placement test to identify their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Determine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RQ_7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214214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play English Game 1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access and play the first English game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Game 1 English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RQ_8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341346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The system should allow the learner to play English Game 2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access and play the second English game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Game 2 English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RQ_9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323894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play Arabic Game 1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access and play the first Arabic game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Game 1 Arabic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RQ_10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387086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play Arabic Game 2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access and play the second Arabic game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Game 2 Arabic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RQ_11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987860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play Turkish Game 1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access and play the first Turkish game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Game 1 Turkish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RQ_12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090287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play Turkish Game 2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access and play the second Turkish game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Game 2 Turkish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RQ_13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626219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show current results for all games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view their performance and scores across all played games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Show current results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RQ_14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241903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update their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retake the placement test to update their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Update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>
                          <a:effectLst/>
                        </a:rPr>
                        <a:t>RQ_15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562736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Could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contact admin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send a message to the admin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Contact admin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>
                          <a:effectLst/>
                        </a:rPr>
                        <a:t>RQ_16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338710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Could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rate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submit a rating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Rate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>
                          <a:effectLst/>
                        </a:rPr>
                        <a:t>RQ_17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07287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Could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view other ratings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The learner can browse ratings from other learners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View ratings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>
                          <a:effectLst/>
                        </a:rPr>
                        <a:t>RQ_18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962692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Could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like/dislike a rating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react to ratings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Like/Dislike rating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>
                          <a:effectLst/>
                        </a:rPr>
                        <a:t>RQ_19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76095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Could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filtering ratings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The learner can filter ratings by likes or date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Filter ratings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RQ_20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7053604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re-determine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retake a new level test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Redetermine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>
                          <a:effectLst/>
                        </a:rPr>
                        <a:t>RQ_21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398249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determine Arabic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take an Arabic placement test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Determine Arabic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RQ_22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324802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play Arabic Game 1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play Arabic game 1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Arabic Game 1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RQ_23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760961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play Arabic Game 2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play Arabic game 2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Arabic Game 2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RQ_24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853549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Could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play Arabic Game 3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play Arabic game 3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Learner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Arabic Game 3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RQ_25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80308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show levels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view all available levels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Show levels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RQ_26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118098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learner to take courses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enroll in courses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Take courses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>
                          <a:effectLst/>
                        </a:rPr>
                        <a:t>RQ_27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763228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admin to log 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Admin can access the system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Admin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Admin login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RQ_28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764003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show admin dashboard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Admin can view system statistics and controls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Admin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Show dashboard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RQ_29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034182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admin to reply to messages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Admin can respond to learner messages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Admin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Reply to message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RQ_30 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461187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learners to reset their passwords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reset a forgotten password through a secure process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Reset password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RQ_31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extLst>
                  <a:ext uri="{0D108BD9-81ED-4DB2-BD59-A6C34878D82A}">
                    <a16:rowId xmlns:a16="http://schemas.microsoft.com/office/drawing/2014/main" val="2891780223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save game progress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The system saves the learner's progress and scores after completing a game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Save game progress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RQ_32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extLst>
                  <a:ext uri="{0D108BD9-81ED-4DB2-BD59-A6C34878D82A}">
                    <a16:rowId xmlns:a16="http://schemas.microsoft.com/office/drawing/2014/main" val="1418458468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display learner progress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view progress and achievements for each language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View progress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RQ_33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extLst>
                  <a:ext uri="{0D108BD9-81ED-4DB2-BD59-A6C34878D82A}">
                    <a16:rowId xmlns:a16="http://schemas.microsoft.com/office/drawing/2014/main" val="2331991011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recommend games based on learner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suggests suitable games according to the learner's language level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Recommend games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RQ_34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extLst>
                  <a:ext uri="{0D108BD9-81ED-4DB2-BD59-A6C34878D82A}">
                    <a16:rowId xmlns:a16="http://schemas.microsoft.com/office/drawing/2014/main" val="4108353687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learners to view course details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learner can view course descriptions, content, and requirements before enrolling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View course details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RQ_35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extLst>
                  <a:ext uri="{0D108BD9-81ED-4DB2-BD59-A6C34878D82A}">
                    <a16:rowId xmlns:a16="http://schemas.microsoft.com/office/drawing/2014/main" val="1646497694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track course completion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records completed lessons and the learner's progress in each course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Learner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Track course progress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RQ_36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extLst>
                  <a:ext uri="{0D108BD9-81ED-4DB2-BD59-A6C34878D82A}">
                    <a16:rowId xmlns:a16="http://schemas.microsoft.com/office/drawing/2014/main" val="3805097083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admin to manage languages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admin can add, update, and remove supported languages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Admin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Manage languages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RQ_37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extLst>
                  <a:ext uri="{0D108BD9-81ED-4DB2-BD59-A6C34878D82A}">
                    <a16:rowId xmlns:a16="http://schemas.microsoft.com/office/drawing/2014/main" val="2807821600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Must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admin to manage games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admin can add, update, and remove games and their educational content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Admin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Manage games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RQ_38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extLst>
                  <a:ext uri="{0D108BD9-81ED-4DB2-BD59-A6C34878D82A}">
                    <a16:rowId xmlns:a16="http://schemas.microsoft.com/office/drawing/2014/main" val="3526490482"/>
                  </a:ext>
                </a:extLst>
              </a:tr>
              <a:tr h="241691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Should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system should allow the admin to manage courses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The admin can create, update, and remove courses and their content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>
                          <a:effectLst/>
                        </a:rPr>
                        <a:t>Admin</a:t>
                      </a:r>
                      <a:endParaRPr lang="en-US" sz="110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effectLst/>
                        </a:rPr>
                        <a:t>Manage courses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100" dirty="0">
                          <a:effectLst/>
                        </a:rPr>
                        <a:t>RQ_39</a:t>
                      </a:r>
                      <a:endParaRPr lang="en-US" sz="11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6083" marR="6083" marT="0" marB="0" anchor="ctr"/>
                </a:tc>
                <a:extLst>
                  <a:ext uri="{0D108BD9-81ED-4DB2-BD59-A6C34878D82A}">
                    <a16:rowId xmlns:a16="http://schemas.microsoft.com/office/drawing/2014/main" val="1308088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120684"/>
      </p:ext>
    </p:extLst>
  </p:cSld>
  <p:clrMapOvr>
    <a:masterClrMapping/>
  </p:clrMapOvr>
  <p:transition spd="med">
    <p:pull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DB7E256-6FB0-4A4D-82FE-713562C54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192456"/>
              </p:ext>
            </p:extLst>
          </p:nvPr>
        </p:nvGraphicFramePr>
        <p:xfrm>
          <a:off x="304798" y="190500"/>
          <a:ext cx="17602201" cy="991934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688252">
                  <a:extLst>
                    <a:ext uri="{9D8B030D-6E8A-4147-A177-3AD203B41FA5}">
                      <a16:colId xmlns:a16="http://schemas.microsoft.com/office/drawing/2014/main" val="3574959109"/>
                    </a:ext>
                  </a:extLst>
                </a:gridCol>
                <a:gridCol w="5695665">
                  <a:extLst>
                    <a:ext uri="{9D8B030D-6E8A-4147-A177-3AD203B41FA5}">
                      <a16:colId xmlns:a16="http://schemas.microsoft.com/office/drawing/2014/main" val="1839616581"/>
                    </a:ext>
                  </a:extLst>
                </a:gridCol>
                <a:gridCol w="5693907">
                  <a:extLst>
                    <a:ext uri="{9D8B030D-6E8A-4147-A177-3AD203B41FA5}">
                      <a16:colId xmlns:a16="http://schemas.microsoft.com/office/drawing/2014/main" val="1579940271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442780251"/>
                    </a:ext>
                  </a:extLst>
                </a:gridCol>
                <a:gridCol w="2352675">
                  <a:extLst>
                    <a:ext uri="{9D8B030D-6E8A-4147-A177-3AD203B41FA5}">
                      <a16:colId xmlns:a16="http://schemas.microsoft.com/office/drawing/2014/main" val="681283657"/>
                    </a:ext>
                  </a:extLst>
                </a:gridCol>
                <a:gridCol w="1000127">
                  <a:extLst>
                    <a:ext uri="{9D8B030D-6E8A-4147-A177-3AD203B41FA5}">
                      <a16:colId xmlns:a16="http://schemas.microsoft.com/office/drawing/2014/main" val="4141293511"/>
                    </a:ext>
                  </a:extLst>
                </a:gridCol>
              </a:tblGrid>
              <a:tr h="73675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MoSCoW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Scenario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Description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actor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Requirement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RQ_ID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/>
                </a:tc>
                <a:extLst>
                  <a:ext uri="{0D108BD9-81ED-4DB2-BD59-A6C34878D82A}">
                    <a16:rowId xmlns:a16="http://schemas.microsoft.com/office/drawing/2014/main" val="1851038245"/>
                  </a:ext>
                </a:extLst>
              </a:tr>
              <a:tr h="258574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the admin to manage learner accounts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admin can view learner accounts and activate, deactivate, or manage them according to assigned permissions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Admin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Manage learner accounts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RQ_40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1866132868"/>
                  </a:ext>
                </a:extLst>
              </a:tr>
              <a:tr h="205769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review their previous answers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review correct and incorrect answers after completing a game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 dirty="0">
                          <a:effectLst/>
                        </a:rPr>
                        <a:t>Learner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Review Answers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RQ_41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2403229497"/>
                  </a:ext>
                </a:extLst>
              </a:tr>
              <a:tr h="205769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display correct answers after a game ends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view the correct answers and compare them with their own answers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Show Correct Answers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RQ_42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677972651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view their test history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view previous placement test results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View Test History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RQ_43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568332948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change their preferred language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select the preferred language for the system interface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Change Interface Language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RQ_44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3702804875"/>
                  </a:ext>
                </a:extLst>
              </a:tr>
              <a:tr h="205769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send notifications to learners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receive notifications about new courses and important updates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Receive Notifications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RQ_45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3524365189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the admin to view performance reports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admin can view reports about learner performance and game results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Admin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View Performance Reports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RQ_46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1489630022"/>
                  </a:ext>
                </a:extLst>
              </a:tr>
              <a:tr h="100157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the admin to manage language levels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admin can add, update, and delete language levels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Admin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Manage Language Levels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RQ_47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1036846153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the admin to manage test questions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admin can add, update, and delete placement test questions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Admin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Manage Test Questions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RQ_48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531366888"/>
                  </a:ext>
                </a:extLst>
              </a:tr>
              <a:tr h="205769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the admin to send announcements to learners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admin can publish announcements about updates and educational activities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Admin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Manage Announcements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RQ_49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3831066102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record the learner's last login date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admin can view each learner's last login date for monitoring purposes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Admin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Track Last Login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RQ_50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3996913362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the admin to update their profile image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admin can upload a new profile image or change the existing one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Admin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Update Admin Image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RQ_51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2500725799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users to view their profiles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user can view their personal profile information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View User Profile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RQ_52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434793000"/>
                  </a:ext>
                </a:extLst>
              </a:tr>
              <a:tr h="100157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change their names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update their name in their account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Change Name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RQ_53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1739414933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display saved learner levels, if available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view previously determined language levels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View Existing Levels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RQ_54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2010930150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retake a placement test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retake the test to determine their level again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Retake Test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RQ_55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2659899145"/>
                  </a:ext>
                </a:extLst>
              </a:tr>
              <a:tr h="205769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notify learners when a new game is added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receives a notification when a new game is added to a language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New Game Notification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RQ_56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1837053876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challenge AI in English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participate in an interactive challenge against AI in English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Challenge AI in English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RQ_57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2424496638"/>
                  </a:ext>
                </a:extLst>
              </a:tr>
              <a:tr h="205769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interact with stories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interact with educational stories through available choices or activities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Interactive Stories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RQ_58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844752570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change their profile images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upload a new image or change the existing profile image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Change User Image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RQ_59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1654533758"/>
                  </a:ext>
                </a:extLst>
              </a:tr>
              <a:tr h="258574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participate in listening challenges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complete challenges based on listening to audio clips and answering related questions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Listening Challenges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RQ_60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3637923249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save favorite games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add games to a favorites list and access them later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Manage Favorite Games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RQ_61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2997886722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display learner rankings based on scores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view a leaderboard based on game results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View Learner Rankings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RQ_62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1920743828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change game difficulty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select a suitable difficulty level from the available options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Change Game Difficulty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RQ_63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1837547968"/>
                  </a:ext>
                </a:extLst>
              </a:tr>
              <a:tr h="205769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track their achievements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view badges and achievements earned through educational activities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View Achievements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>
                          <a:effectLst/>
                        </a:rPr>
                        <a:t>RQ_64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242091971"/>
                  </a:ext>
                </a:extLst>
              </a:tr>
              <a:tr h="152963"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Should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system should allow learners to review learned vocabulary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The learner can view a list of new words learned through games and lessons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Learner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</a:pPr>
                      <a:r>
                        <a:rPr lang="en-US" sz="1400">
                          <a:effectLst/>
                        </a:rPr>
                        <a:t>Review Learned Vocabulary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tc>
                  <a:txBody>
                    <a:bodyPr/>
                    <a:lstStyle/>
                    <a:p>
                      <a:pPr algn="l" rtl="1">
                        <a:lnSpc>
                          <a:spcPct val="150000"/>
                        </a:lnSpc>
                        <a:spcAft>
                          <a:spcPts val="800"/>
                        </a:spcAft>
                        <a:tabLst>
                          <a:tab pos="320040" algn="ctr"/>
                          <a:tab pos="640080" algn="r"/>
                        </a:tabLst>
                      </a:pPr>
                      <a:r>
                        <a:rPr lang="en-US" sz="1400" dirty="0">
                          <a:effectLst/>
                        </a:rPr>
                        <a:t>RQ_65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4402" marR="14402" marT="0" marB="0" anchor="ctr"/>
                </a:tc>
                <a:extLst>
                  <a:ext uri="{0D108BD9-81ED-4DB2-BD59-A6C34878D82A}">
                    <a16:rowId xmlns:a16="http://schemas.microsoft.com/office/drawing/2014/main" val="292558372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81001" y="2545927"/>
            <a:ext cx="9677400" cy="7330257"/>
            <a:chOff x="0" y="0"/>
            <a:chExt cx="1650867" cy="7387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50867" cy="738740"/>
            </a:xfrm>
            <a:custGeom>
              <a:avLst/>
              <a:gdLst/>
              <a:ahLst/>
              <a:cxnLst/>
              <a:rect l="l" t="t" r="r" b="b"/>
              <a:pathLst>
                <a:path w="1650867" h="738740">
                  <a:moveTo>
                    <a:pt x="0" y="0"/>
                  </a:moveTo>
                  <a:lnTo>
                    <a:pt x="1650867" y="0"/>
                  </a:lnTo>
                  <a:lnTo>
                    <a:pt x="1650867" y="738740"/>
                  </a:lnTo>
                  <a:lnTo>
                    <a:pt x="0" y="738740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650867" cy="795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 sz="2400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-577455" y="-395424"/>
            <a:ext cx="19187335" cy="1424124"/>
            <a:chOff x="0" y="0"/>
            <a:chExt cx="5053454" cy="37507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53454" cy="375078"/>
            </a:xfrm>
            <a:custGeom>
              <a:avLst/>
              <a:gdLst/>
              <a:ahLst/>
              <a:cxnLst/>
              <a:rect l="l" t="t" r="r" b="b"/>
              <a:pathLst>
                <a:path w="5053454" h="375078">
                  <a:moveTo>
                    <a:pt x="0" y="0"/>
                  </a:moveTo>
                  <a:lnTo>
                    <a:pt x="5053454" y="0"/>
                  </a:lnTo>
                  <a:lnTo>
                    <a:pt x="5053454" y="375078"/>
                  </a:lnTo>
                  <a:lnTo>
                    <a:pt x="0" y="375078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5053454" cy="4322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 sz="240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13780" y="1271416"/>
            <a:ext cx="6201396" cy="879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7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Methodology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01400" y="1366635"/>
            <a:ext cx="2352964" cy="34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32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Sprint 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201400" y="2749587"/>
            <a:ext cx="2352964" cy="34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32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Sprint 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201400" y="4231422"/>
            <a:ext cx="2352964" cy="34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32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Sprint 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01400" y="5745338"/>
            <a:ext cx="2352964" cy="34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32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Sprint 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201400" y="1930231"/>
            <a:ext cx="7086600" cy="6537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Requirements Analysis, Literature Review, and Project Scheduling</a:t>
            </a:r>
            <a:endParaRPr lang="en-US" sz="2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1201400" y="3299324"/>
            <a:ext cx="6705600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Account and Profile Management</a:t>
            </a:r>
            <a:endParaRPr lang="en-US" sz="24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1201400" y="4714914"/>
            <a:ext cx="6858000" cy="321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Placement Tests and Assessment Management</a:t>
            </a:r>
            <a:endParaRPr lang="en-US" sz="24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201400" y="6252429"/>
            <a:ext cx="6705600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Educational Game Development and Progress Tracking</a:t>
            </a:r>
            <a:endParaRPr lang="en-US" sz="2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" name="TextBox 38">
            <a:extLst>
              <a:ext uri="{FF2B5EF4-FFF2-40B4-BE49-F238E27FC236}">
                <a16:creationId xmlns:a16="http://schemas.microsoft.com/office/drawing/2014/main" id="{B8BE338A-B305-4400-8CE4-2E18564A9B05}"/>
              </a:ext>
            </a:extLst>
          </p:cNvPr>
          <p:cNvSpPr txBox="1"/>
          <p:nvPr/>
        </p:nvSpPr>
        <p:spPr>
          <a:xfrm>
            <a:off x="11201400" y="8607171"/>
            <a:ext cx="2352964" cy="34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32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Sprint 6</a:t>
            </a:r>
          </a:p>
        </p:txBody>
      </p:sp>
      <p:sp>
        <p:nvSpPr>
          <p:cNvPr id="47" name="TextBox 38">
            <a:extLst>
              <a:ext uri="{FF2B5EF4-FFF2-40B4-BE49-F238E27FC236}">
                <a16:creationId xmlns:a16="http://schemas.microsoft.com/office/drawing/2014/main" id="{58EE68F6-F5F5-43BC-96B4-CF0F80254986}"/>
              </a:ext>
            </a:extLst>
          </p:cNvPr>
          <p:cNvSpPr txBox="1"/>
          <p:nvPr/>
        </p:nvSpPr>
        <p:spPr>
          <a:xfrm>
            <a:off x="11201400" y="7240890"/>
            <a:ext cx="2352964" cy="34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32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Sprint 5</a:t>
            </a:r>
          </a:p>
        </p:txBody>
      </p:sp>
      <p:sp>
        <p:nvSpPr>
          <p:cNvPr id="48" name="TextBox 42">
            <a:extLst>
              <a:ext uri="{FF2B5EF4-FFF2-40B4-BE49-F238E27FC236}">
                <a16:creationId xmlns:a16="http://schemas.microsoft.com/office/drawing/2014/main" id="{024590AA-CA09-4382-A0F9-1042A5E8B933}"/>
              </a:ext>
            </a:extLst>
          </p:cNvPr>
          <p:cNvSpPr txBox="1"/>
          <p:nvPr/>
        </p:nvSpPr>
        <p:spPr>
          <a:xfrm>
            <a:off x="11220594" y="7702317"/>
            <a:ext cx="6858000" cy="321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Courses and Interactive Learning</a:t>
            </a:r>
            <a:endParaRPr lang="en-US" sz="2400" dirty="0">
              <a:solidFill>
                <a:srgbClr val="000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49" name="TextBox 42">
            <a:extLst>
              <a:ext uri="{FF2B5EF4-FFF2-40B4-BE49-F238E27FC236}">
                <a16:creationId xmlns:a16="http://schemas.microsoft.com/office/drawing/2014/main" id="{2E4AB412-44BC-4D69-B29B-4EC93E41C3E7}"/>
              </a:ext>
            </a:extLst>
          </p:cNvPr>
          <p:cNvSpPr txBox="1"/>
          <p:nvPr/>
        </p:nvSpPr>
        <p:spPr>
          <a:xfrm>
            <a:off x="11220594" y="9234983"/>
            <a:ext cx="6838806" cy="6412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Administration Dashboard Development and System Quality Assurance</a:t>
            </a:r>
            <a:endParaRPr lang="en-US" sz="2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23915A0B-2BA8-4672-8F2C-0ABC0D4CEB9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000" y="2339967"/>
            <a:ext cx="9525000" cy="672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115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060">
                <a:alpha val="100000"/>
              </a:srgbClr>
            </a:gs>
            <a:gs pos="100000">
              <a:srgbClr val="003060">
                <a:alpha val="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775613" y="4229100"/>
            <a:ext cx="10736773" cy="13715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8"/>
              </a:lnSpc>
            </a:pPr>
            <a:r>
              <a:rPr lang="en-US" sz="104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GANTT CHART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15126022" y="8453277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3" y="0"/>
                </a:moveTo>
                <a:lnTo>
                  <a:pt x="0" y="0"/>
                </a:lnTo>
                <a:lnTo>
                  <a:pt x="0" y="805023"/>
                </a:lnTo>
                <a:lnTo>
                  <a:pt x="1689933" y="805023"/>
                </a:lnTo>
                <a:lnTo>
                  <a:pt x="16899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38075713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060">
                <a:alpha val="100000"/>
              </a:srgbClr>
            </a:gs>
            <a:gs pos="100000">
              <a:srgbClr val="003060">
                <a:alpha val="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389AD1-D436-494F-96FB-E79BAD1B9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0500"/>
            <a:ext cx="17602200" cy="9905999"/>
          </a:xfrm>
          <a:prstGeom prst="rect">
            <a:avLst/>
          </a:prstGeom>
          <a:ln w="76200">
            <a:solidFill>
              <a:srgbClr val="003060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5FF8072-1734-4F8E-96DD-47E8B7DB44A0}"/>
                  </a:ext>
                </a:extLst>
              </p14:cNvPr>
              <p14:cNvContentPartPr/>
              <p14:nvPr/>
            </p14:nvContentPartPr>
            <p14:xfrm>
              <a:off x="444532" y="927630"/>
              <a:ext cx="1569960" cy="15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5FF8072-1734-4F8E-96DD-47E8B7DB44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892" y="864990"/>
                <a:ext cx="169560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BE12D14-1A48-4C54-8748-5E7423335E54}"/>
                  </a:ext>
                </a:extLst>
              </p14:cNvPr>
              <p14:cNvContentPartPr/>
              <p14:nvPr/>
            </p14:nvContentPartPr>
            <p14:xfrm>
              <a:off x="427972" y="970470"/>
              <a:ext cx="1701000" cy="30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BE12D14-1A48-4C54-8748-5E7423335E5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5332" y="907830"/>
                <a:ext cx="1826640" cy="15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7751996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89898" y="784558"/>
            <a:ext cx="6060384" cy="882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700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Architecture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676400" y="2312710"/>
            <a:ext cx="15651200" cy="6728600"/>
            <a:chOff x="0" y="0"/>
            <a:chExt cx="1474140" cy="7161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74140" cy="716137"/>
            </a:xfrm>
            <a:custGeom>
              <a:avLst/>
              <a:gdLst/>
              <a:ahLst/>
              <a:cxnLst/>
              <a:rect l="l" t="t" r="r" b="b"/>
              <a:pathLst>
                <a:path w="1474140" h="716137">
                  <a:moveTo>
                    <a:pt x="0" y="0"/>
                  </a:moveTo>
                  <a:lnTo>
                    <a:pt x="1474140" y="0"/>
                  </a:lnTo>
                  <a:lnTo>
                    <a:pt x="1474140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474140" cy="773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107178" y="9258300"/>
            <a:ext cx="8162329" cy="1592157"/>
            <a:chOff x="0" y="0"/>
            <a:chExt cx="2149749" cy="4193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49749" cy="419334"/>
            </a:xfrm>
            <a:custGeom>
              <a:avLst/>
              <a:gdLst/>
              <a:ahLst/>
              <a:cxnLst/>
              <a:rect l="l" t="t" r="r" b="b"/>
              <a:pathLst>
                <a:path w="2149749" h="419334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23912" y="-336043"/>
            <a:ext cx="8741633" cy="1132122"/>
            <a:chOff x="0" y="0"/>
            <a:chExt cx="2302323" cy="2981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02323" cy="298172"/>
            </a:xfrm>
            <a:custGeom>
              <a:avLst/>
              <a:gdLst/>
              <a:ahLst/>
              <a:cxnLst/>
              <a:rect l="l" t="t" r="r" b="b"/>
              <a:pathLst>
                <a:path w="2302323" h="298172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flipH="1">
            <a:off x="14778888" y="1144739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C6FF9CD-1868-482A-899E-AEF21027B34E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825" y="2003535"/>
            <a:ext cx="16078200" cy="64701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060">
                <a:alpha val="100000"/>
              </a:srgbClr>
            </a:gs>
            <a:gs pos="100000">
              <a:srgbClr val="003060">
                <a:alpha val="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3775613" y="4229100"/>
            <a:ext cx="10736773" cy="13715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88"/>
              </a:lnSpc>
            </a:pPr>
            <a:r>
              <a:rPr lang="en-US" sz="104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USE CASE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15126022" y="8453277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3" y="0"/>
                </a:moveTo>
                <a:lnTo>
                  <a:pt x="0" y="0"/>
                </a:lnTo>
                <a:lnTo>
                  <a:pt x="0" y="805023"/>
                </a:lnTo>
                <a:lnTo>
                  <a:pt x="1689933" y="805023"/>
                </a:lnTo>
                <a:lnTo>
                  <a:pt x="16899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30713766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060">
                <a:alpha val="100000"/>
              </a:srgbClr>
            </a:gs>
            <a:gs pos="100000">
              <a:srgbClr val="003060">
                <a:alpha val="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 flipH="1">
            <a:off x="15126022" y="8453277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3" y="0"/>
                </a:moveTo>
                <a:lnTo>
                  <a:pt x="0" y="0"/>
                </a:lnTo>
                <a:lnTo>
                  <a:pt x="0" y="805023"/>
                </a:lnTo>
                <a:lnTo>
                  <a:pt x="1689933" y="805023"/>
                </a:lnTo>
                <a:lnTo>
                  <a:pt x="16899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91D6D3-1E9B-4530-95EE-A5B8CD8B6E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19100"/>
            <a:ext cx="11363325" cy="8820150"/>
          </a:xfrm>
          <a:prstGeom prst="rect">
            <a:avLst/>
          </a:prstGeom>
          <a:ln w="76200">
            <a:solidFill>
              <a:srgbClr val="003060"/>
            </a:solidFill>
          </a:ln>
        </p:spPr>
      </p:pic>
    </p:spTree>
    <p:extLst>
      <p:ext uri="{BB962C8B-B14F-4D97-AF65-F5344CB8AC3E}">
        <p14:creationId xmlns:p14="http://schemas.microsoft.com/office/powerpoint/2010/main" val="2632616475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14350" y="-272025"/>
            <a:ext cx="19118434" cy="3889878"/>
            <a:chOff x="0" y="0"/>
            <a:chExt cx="5035308" cy="10244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35308" cy="1024495"/>
            </a:xfrm>
            <a:custGeom>
              <a:avLst/>
              <a:gdLst/>
              <a:ahLst/>
              <a:cxnLst/>
              <a:rect l="l" t="t" r="r" b="b"/>
              <a:pathLst>
                <a:path w="5035308" h="1024495">
                  <a:moveTo>
                    <a:pt x="0" y="0"/>
                  </a:moveTo>
                  <a:lnTo>
                    <a:pt x="5035308" y="0"/>
                  </a:lnTo>
                  <a:lnTo>
                    <a:pt x="5035308" y="1024495"/>
                  </a:lnTo>
                  <a:lnTo>
                    <a:pt x="0" y="1024495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035308" cy="1081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15126022" y="1298027"/>
            <a:ext cx="1689934" cy="805023"/>
          </a:xfrm>
          <a:custGeom>
            <a:avLst/>
            <a:gdLst/>
            <a:ahLst/>
            <a:cxnLst/>
            <a:rect l="l" t="t" r="r" b="b"/>
            <a:pathLst>
              <a:path w="1689934" h="805023">
                <a:moveTo>
                  <a:pt x="1689933" y="0"/>
                </a:moveTo>
                <a:lnTo>
                  <a:pt x="0" y="0"/>
                </a:lnTo>
                <a:lnTo>
                  <a:pt x="0" y="805023"/>
                </a:lnTo>
                <a:lnTo>
                  <a:pt x="1689933" y="805023"/>
                </a:lnTo>
                <a:lnTo>
                  <a:pt x="168993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737332" y="4662323"/>
            <a:ext cx="2392206" cy="3263744"/>
            <a:chOff x="0" y="0"/>
            <a:chExt cx="1112512" cy="15178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12512" cy="1517827"/>
            </a:xfrm>
            <a:custGeom>
              <a:avLst/>
              <a:gdLst/>
              <a:ahLst/>
              <a:cxnLst/>
              <a:rect l="l" t="t" r="r" b="b"/>
              <a:pathLst>
                <a:path w="1112512" h="1517827">
                  <a:moveTo>
                    <a:pt x="0" y="0"/>
                  </a:moveTo>
                  <a:lnTo>
                    <a:pt x="1112512" y="0"/>
                  </a:lnTo>
                  <a:lnTo>
                    <a:pt x="1112512" y="1517827"/>
                  </a:lnTo>
                  <a:lnTo>
                    <a:pt x="0" y="151782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112512" cy="1574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07396" y="4662323"/>
            <a:ext cx="2392206" cy="3263744"/>
            <a:chOff x="0" y="0"/>
            <a:chExt cx="1112512" cy="151782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12512" cy="1517827"/>
            </a:xfrm>
            <a:custGeom>
              <a:avLst/>
              <a:gdLst/>
              <a:ahLst/>
              <a:cxnLst/>
              <a:rect l="l" t="t" r="r" b="b"/>
              <a:pathLst>
                <a:path w="1112512" h="1517827">
                  <a:moveTo>
                    <a:pt x="0" y="0"/>
                  </a:moveTo>
                  <a:lnTo>
                    <a:pt x="1112512" y="0"/>
                  </a:lnTo>
                  <a:lnTo>
                    <a:pt x="1112512" y="1517827"/>
                  </a:lnTo>
                  <a:lnTo>
                    <a:pt x="0" y="151782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112512" cy="1574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63342" y="4662323"/>
            <a:ext cx="2392206" cy="3263744"/>
            <a:chOff x="0" y="0"/>
            <a:chExt cx="1112512" cy="151782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12512" cy="1517827"/>
            </a:xfrm>
            <a:custGeom>
              <a:avLst/>
              <a:gdLst/>
              <a:ahLst/>
              <a:cxnLst/>
              <a:rect l="l" t="t" r="r" b="b"/>
              <a:pathLst>
                <a:path w="1112512" h="1517827">
                  <a:moveTo>
                    <a:pt x="0" y="0"/>
                  </a:moveTo>
                  <a:lnTo>
                    <a:pt x="1112512" y="0"/>
                  </a:lnTo>
                  <a:lnTo>
                    <a:pt x="1112512" y="1517827"/>
                  </a:lnTo>
                  <a:lnTo>
                    <a:pt x="0" y="151782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112512" cy="1574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89322" y="4662323"/>
            <a:ext cx="2392206" cy="3263744"/>
            <a:chOff x="0" y="0"/>
            <a:chExt cx="1112512" cy="151782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12512" cy="1517827"/>
            </a:xfrm>
            <a:custGeom>
              <a:avLst/>
              <a:gdLst/>
              <a:ahLst/>
              <a:cxnLst/>
              <a:rect l="l" t="t" r="r" b="b"/>
              <a:pathLst>
                <a:path w="1112512" h="1517827">
                  <a:moveTo>
                    <a:pt x="0" y="0"/>
                  </a:moveTo>
                  <a:lnTo>
                    <a:pt x="1112512" y="0"/>
                  </a:lnTo>
                  <a:lnTo>
                    <a:pt x="1112512" y="1517827"/>
                  </a:lnTo>
                  <a:lnTo>
                    <a:pt x="0" y="151782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112512" cy="1574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-424110" y="8980271"/>
            <a:ext cx="19136220" cy="1495774"/>
            <a:chOff x="0" y="0"/>
            <a:chExt cx="5039992" cy="39394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39992" cy="393949"/>
            </a:xfrm>
            <a:custGeom>
              <a:avLst/>
              <a:gdLst/>
              <a:ahLst/>
              <a:cxnLst/>
              <a:rect l="l" t="t" r="r" b="b"/>
              <a:pathLst>
                <a:path w="5039992" h="393949">
                  <a:moveTo>
                    <a:pt x="0" y="0"/>
                  </a:moveTo>
                  <a:lnTo>
                    <a:pt x="5039992" y="0"/>
                  </a:lnTo>
                  <a:lnTo>
                    <a:pt x="5039992" y="393949"/>
                  </a:lnTo>
                  <a:lnTo>
                    <a:pt x="0" y="393949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5039992" cy="45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68544" y="2460951"/>
            <a:ext cx="6150913" cy="88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700" b="1" dirty="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Tools used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9787639-7665-4069-8FFF-666A1F0D4D0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7931" y="4771643"/>
            <a:ext cx="2233627" cy="26578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BEA82AD-78B1-46E8-87D6-67F6156720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387" y="4771643"/>
            <a:ext cx="2116116" cy="28378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8D15C96E-0C6D-409C-B839-9F826D40120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6005" y="4774918"/>
            <a:ext cx="2232673" cy="27931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5" name="Picture 44" descr="Atlassian Jira Logo">
            <a:extLst>
              <a:ext uri="{FF2B5EF4-FFF2-40B4-BE49-F238E27FC236}">
                <a16:creationId xmlns:a16="http://schemas.microsoft.com/office/drawing/2014/main" id="{AE774F07-EFFB-48D7-8B6F-E263609C093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39" y="5251294"/>
            <a:ext cx="1854867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Picture 45" descr="GitHub logo PNG transparent image download, size: 1600x1600px">
            <a:extLst>
              <a:ext uri="{FF2B5EF4-FFF2-40B4-BE49-F238E27FC236}">
                <a16:creationId xmlns:a16="http://schemas.microsoft.com/office/drawing/2014/main" id="{37E6DCF0-BB32-4C17-9944-3AF464AC228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1878" y="4931554"/>
            <a:ext cx="2729628" cy="2819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roup 11">
            <a:extLst>
              <a:ext uri="{FF2B5EF4-FFF2-40B4-BE49-F238E27FC236}">
                <a16:creationId xmlns:a16="http://schemas.microsoft.com/office/drawing/2014/main" id="{8BE1609F-1996-48A7-B197-EBD0E38F577C}"/>
              </a:ext>
            </a:extLst>
          </p:cNvPr>
          <p:cNvGrpSpPr/>
          <p:nvPr/>
        </p:nvGrpSpPr>
        <p:grpSpPr>
          <a:xfrm>
            <a:off x="-316084" y="4662323"/>
            <a:ext cx="2392206" cy="3263744"/>
            <a:chOff x="0" y="0"/>
            <a:chExt cx="1112512" cy="1517827"/>
          </a:xfrm>
        </p:grpSpPr>
        <p:sp>
          <p:nvSpPr>
            <p:cNvPr id="60" name="Freeform 12">
              <a:extLst>
                <a:ext uri="{FF2B5EF4-FFF2-40B4-BE49-F238E27FC236}">
                  <a16:creationId xmlns:a16="http://schemas.microsoft.com/office/drawing/2014/main" id="{E39818CD-7F57-4E6C-9126-586B1A48AB25}"/>
                </a:ext>
              </a:extLst>
            </p:cNvPr>
            <p:cNvSpPr/>
            <p:nvPr/>
          </p:nvSpPr>
          <p:spPr>
            <a:xfrm>
              <a:off x="0" y="0"/>
              <a:ext cx="1112512" cy="1517827"/>
            </a:xfrm>
            <a:custGeom>
              <a:avLst/>
              <a:gdLst/>
              <a:ahLst/>
              <a:cxnLst/>
              <a:rect l="l" t="t" r="r" b="b"/>
              <a:pathLst>
                <a:path w="1112512" h="1517827">
                  <a:moveTo>
                    <a:pt x="0" y="0"/>
                  </a:moveTo>
                  <a:lnTo>
                    <a:pt x="1112512" y="0"/>
                  </a:lnTo>
                  <a:lnTo>
                    <a:pt x="1112512" y="1517827"/>
                  </a:lnTo>
                  <a:lnTo>
                    <a:pt x="0" y="151782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" name="TextBox 13">
              <a:extLst>
                <a:ext uri="{FF2B5EF4-FFF2-40B4-BE49-F238E27FC236}">
                  <a16:creationId xmlns:a16="http://schemas.microsoft.com/office/drawing/2014/main" id="{D4CB6C81-8A09-496C-BF2B-979EB55209D1}"/>
                </a:ext>
              </a:extLst>
            </p:cNvPr>
            <p:cNvSpPr txBox="1"/>
            <p:nvPr/>
          </p:nvSpPr>
          <p:spPr>
            <a:xfrm>
              <a:off x="0" y="-57150"/>
              <a:ext cx="1112512" cy="1574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62" name="Group 11">
            <a:extLst>
              <a:ext uri="{FF2B5EF4-FFF2-40B4-BE49-F238E27FC236}">
                <a16:creationId xmlns:a16="http://schemas.microsoft.com/office/drawing/2014/main" id="{985AEC68-F817-46AE-BA20-BA72F5306B93}"/>
              </a:ext>
            </a:extLst>
          </p:cNvPr>
          <p:cNvGrpSpPr/>
          <p:nvPr/>
        </p:nvGrpSpPr>
        <p:grpSpPr>
          <a:xfrm>
            <a:off x="16093890" y="4633366"/>
            <a:ext cx="2392206" cy="3263744"/>
            <a:chOff x="0" y="0"/>
            <a:chExt cx="1112512" cy="1517827"/>
          </a:xfrm>
        </p:grpSpPr>
        <p:sp>
          <p:nvSpPr>
            <p:cNvPr id="63" name="Freeform 12">
              <a:extLst>
                <a:ext uri="{FF2B5EF4-FFF2-40B4-BE49-F238E27FC236}">
                  <a16:creationId xmlns:a16="http://schemas.microsoft.com/office/drawing/2014/main" id="{8001F18C-7F87-4809-B7B3-BA62119E37D3}"/>
                </a:ext>
              </a:extLst>
            </p:cNvPr>
            <p:cNvSpPr/>
            <p:nvPr/>
          </p:nvSpPr>
          <p:spPr>
            <a:xfrm>
              <a:off x="0" y="0"/>
              <a:ext cx="1112512" cy="1517827"/>
            </a:xfrm>
            <a:custGeom>
              <a:avLst/>
              <a:gdLst/>
              <a:ahLst/>
              <a:cxnLst/>
              <a:rect l="l" t="t" r="r" b="b"/>
              <a:pathLst>
                <a:path w="1112512" h="1517827">
                  <a:moveTo>
                    <a:pt x="0" y="0"/>
                  </a:moveTo>
                  <a:lnTo>
                    <a:pt x="1112512" y="0"/>
                  </a:lnTo>
                  <a:lnTo>
                    <a:pt x="1112512" y="1517827"/>
                  </a:lnTo>
                  <a:lnTo>
                    <a:pt x="0" y="1517827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4" name="TextBox 13">
              <a:extLst>
                <a:ext uri="{FF2B5EF4-FFF2-40B4-BE49-F238E27FC236}">
                  <a16:creationId xmlns:a16="http://schemas.microsoft.com/office/drawing/2014/main" id="{4BDEF45F-F4A3-4AD3-8C52-564497ACEFF8}"/>
                </a:ext>
              </a:extLst>
            </p:cNvPr>
            <p:cNvSpPr txBox="1"/>
            <p:nvPr/>
          </p:nvSpPr>
          <p:spPr>
            <a:xfrm>
              <a:off x="0" y="-57150"/>
              <a:ext cx="1112512" cy="1574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76DE61FD-B771-4FE8-AA92-974A96721B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45858" y="5007485"/>
            <a:ext cx="1896849" cy="23169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-280805" y="2967568"/>
            <a:ext cx="1309505" cy="4351865"/>
            <a:chOff x="0" y="0"/>
            <a:chExt cx="344890" cy="1146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44890" cy="1146170"/>
            </a:xfrm>
            <a:custGeom>
              <a:avLst/>
              <a:gdLst/>
              <a:ahLst/>
              <a:cxnLst/>
              <a:rect l="l" t="t" r="r" b="b"/>
              <a:pathLst>
                <a:path w="344890" h="1146170">
                  <a:moveTo>
                    <a:pt x="147802" y="0"/>
                  </a:moveTo>
                  <a:lnTo>
                    <a:pt x="197088" y="0"/>
                  </a:lnTo>
                  <a:cubicBezTo>
                    <a:pt x="236288" y="0"/>
                    <a:pt x="273882" y="15572"/>
                    <a:pt x="301600" y="43290"/>
                  </a:cubicBezTo>
                  <a:cubicBezTo>
                    <a:pt x="329318" y="71009"/>
                    <a:pt x="344890" y="108603"/>
                    <a:pt x="344890" y="147802"/>
                  </a:cubicBezTo>
                  <a:lnTo>
                    <a:pt x="344890" y="998368"/>
                  </a:lnTo>
                  <a:cubicBezTo>
                    <a:pt x="344890" y="1037567"/>
                    <a:pt x="329318" y="1075162"/>
                    <a:pt x="301600" y="1102880"/>
                  </a:cubicBezTo>
                  <a:cubicBezTo>
                    <a:pt x="273882" y="1130598"/>
                    <a:pt x="236288" y="1146170"/>
                    <a:pt x="197088" y="1146170"/>
                  </a:cubicBezTo>
                  <a:lnTo>
                    <a:pt x="147802" y="1146170"/>
                  </a:lnTo>
                  <a:cubicBezTo>
                    <a:pt x="108603" y="1146170"/>
                    <a:pt x="71009" y="1130598"/>
                    <a:pt x="43290" y="1102880"/>
                  </a:cubicBezTo>
                  <a:cubicBezTo>
                    <a:pt x="15572" y="1075162"/>
                    <a:pt x="0" y="1037567"/>
                    <a:pt x="0" y="998368"/>
                  </a:cubicBezTo>
                  <a:lnTo>
                    <a:pt x="0" y="147802"/>
                  </a:lnTo>
                  <a:cubicBezTo>
                    <a:pt x="0" y="108603"/>
                    <a:pt x="15572" y="71009"/>
                    <a:pt x="43290" y="43290"/>
                  </a:cubicBezTo>
                  <a:cubicBezTo>
                    <a:pt x="71009" y="15572"/>
                    <a:pt x="108603" y="0"/>
                    <a:pt x="1478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44890" cy="1184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97777" y="-251375"/>
            <a:ext cx="4789934" cy="10923738"/>
            <a:chOff x="0" y="0"/>
            <a:chExt cx="1261547" cy="28770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1547" cy="2877034"/>
            </a:xfrm>
            <a:custGeom>
              <a:avLst/>
              <a:gdLst/>
              <a:ahLst/>
              <a:cxnLst/>
              <a:rect l="l" t="t" r="r" b="b"/>
              <a:pathLst>
                <a:path w="1261547" h="2877034">
                  <a:moveTo>
                    <a:pt x="0" y="0"/>
                  </a:moveTo>
                  <a:lnTo>
                    <a:pt x="1261547" y="0"/>
                  </a:lnTo>
                  <a:lnTo>
                    <a:pt x="1261547" y="2877034"/>
                  </a:lnTo>
                  <a:lnTo>
                    <a:pt x="0" y="2877034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61547" cy="29151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072387" y="802308"/>
            <a:ext cx="373825" cy="1489884"/>
          </a:xfrm>
          <a:custGeom>
            <a:avLst/>
            <a:gdLst/>
            <a:ahLst/>
            <a:cxnLst/>
            <a:rect l="l" t="t" r="r" b="b"/>
            <a:pathLst>
              <a:path w="373825" h="1489884">
                <a:moveTo>
                  <a:pt x="0" y="0"/>
                </a:moveTo>
                <a:lnTo>
                  <a:pt x="373826" y="0"/>
                </a:lnTo>
                <a:lnTo>
                  <a:pt x="373826" y="1489884"/>
                </a:lnTo>
                <a:lnTo>
                  <a:pt x="0" y="1489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4343400" y="4467784"/>
            <a:ext cx="8216473" cy="1340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46"/>
              </a:lnSpc>
            </a:pPr>
            <a:r>
              <a:rPr lang="en-US" sz="10357" b="1" dirty="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2381</Words>
  <Application>Microsoft Office PowerPoint</Application>
  <PresentationFormat>Custom</PresentationFormat>
  <Paragraphs>489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Garet Bold</vt:lpstr>
      <vt:lpstr>Garet</vt:lpstr>
      <vt:lpstr>Arial</vt:lpstr>
      <vt:lpstr>Calibri</vt:lpstr>
      <vt:lpstr>Poppins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Business Proposal Presentation</dc:title>
  <cp:lastModifiedBy>joudyismaa@outlook.sa</cp:lastModifiedBy>
  <cp:revision>26</cp:revision>
  <dcterms:created xsi:type="dcterms:W3CDTF">2006-08-16T00:00:00Z</dcterms:created>
  <dcterms:modified xsi:type="dcterms:W3CDTF">2026-10-26T13:05:57Z</dcterms:modified>
  <dc:identifier>DAHY7LuKQUQ</dc:identifier>
</cp:coreProperties>
</file>